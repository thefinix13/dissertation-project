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EC90F98-CF2D-407F-8DAE-4316B3AB2BB6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Opening — your own words from rehearsal, spoken slowly.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"Good morning, professors. Today I'll be presenting my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dissertation, which is an evaluation of reinforcement learning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algorithms for portfolio trading --- the applicable field here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being finance: trading a stock-market fund.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I'll take you through it in eleven slides: first the problem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how reinforcement learning fits it, then the two studies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what they showed."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 NOT introduce yourself as an RL expert. The second examiner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from the Institute for Communication Systems and may know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neither RL nor finance. Keep every explanation plain.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A320C53-CA9E-486C-93C6-0233AEA37C7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Your own words from rehearsal — keep this flow: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"So what exactly is the problem, or the research question?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regular person who invests in stocks decides on a day-to-day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basis whether to buy more shares, leave the position and do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nothing, or sell --- depending on a number of reasons. Maybe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market is declining and they want to protect their profit,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or they simply need cash at hand for an emergency.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leads to the main research question: can a reinforcement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learning algorithm learn a strategy that is overall better than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simply buying and holding the asset for the long term?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Performance here can be measured in two ways. First, how much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more profitable the learned strategy is compared to just buying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holding. Second, whether the learned policy reduces its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exposure --- holds fewer shares --- during a market decline,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protecting wealth in exactly the periods that matter."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Timing: 60 seconds. Questions 2 (behaviour) and 3 (data) are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 on this slide — they arrive naturally on slides 7 and 8.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BE13E00-F683-4288-B022-6667867C397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Your own words from rehearsal — keep this flow: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"To understand the trading environment, we first need to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understand how reinforcement learning works.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Unlike supervised learning, where a model is given true labels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predict from a data set, reinforcement learning learns by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trial and error --- from the rewards obtained by taking an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action in the current state.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Let me break that down with the diagram. We have an agent and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 environment. The agent is a small neural network --- in our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case a policy network pi, or a Q-network Q --- which uses its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current state to choose an action: buy, hold, or sell.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environment is the world the agent acts in. An episode is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one month of trading --- typically 18 to 23 trading days,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depending on the month. So the environment is the portfolio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 that month: it executes the action, applies the trading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fee, the price moves to the next day, and it hands back the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new state and the reward --- the change in portfolio wealth."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 not mention MDPs, Bellman equations, or policy vs value here.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That comes on the next slide (the three algorithms).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2FA85FC-E881-4637-8D67-244619AF498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Your own words from rehearsal, tightened: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"Moving on to the reinforcement learning algorithms. There are two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families here: policy-based methods, where REINFORCE and PPO fall,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value-based methods, like Deep Q-learning.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Deep Q-learning learns the VALUE of an action. It estimates how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good each action is --- how good is buying here, how good is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selling here --- and picks the action with the highest estimate.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REINFORCE learns the POLICY directly. The policy is a probability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distribution over actions --- say buy at 0.6, sell at 0.3, hold 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0.1. It adjusts those probabilities based on the outcome that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followed: actions that led to profit become more likely, actions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that led to loss become less likely.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PPO is exactly like REINFORCE, but it learns the policy in a safer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manner. It has a clipping parameter that caps how large any single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update to the policy can be, so the new policy never strays too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far from the old one.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REINFORCE and Deep Q-learning I wrote from scratch. For PPO I used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standard library implementation deliberately --- it is the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modern reference point."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Timing: 90 seconds. Don't try to derive anything here — the full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objectives are on backup slides 14-16 if they ask.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DBDD899-C5C5-469C-AED2-6EED8006EE4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Your own words from rehearsal, tightened (three slips fixed —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see the CAREFUL notes at the bottom):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"Now for the dataset splits. The first study used real data from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SPY index, to be as realistic as possible --- but this did not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turn out great, which led to the main study we will come back to.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Top bar: we used 2018 to 2022 as the training set --- 60 monthly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episodes the agent was TRAINED on. For validation we used the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whole of 2023: that is where the hyper-parameters were tuned, to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fix one setting for every test so the comparisons stay equal.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Testing was 2024 to 2025, touched exactly once at the end.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Because of the dataset constraints, the main study moved to a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simulator plus transfer tests, where we generated far more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episodes than the 60 real months could give. We kept the same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2018-to-2022 window, but now it CALIBRATES the simulator rather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than training the agent. From it we generated 3,000 episodes: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1,000 for upward markets, 1,000 for downward markets, and 1,000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consolidating markets, where the price stays in the same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range. Testing was then done on real months from 2006 to 2017 ---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covering the 2008 market crash --- and from 2023 to 2025: 180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months in total that were never shown to the agents whatsoever.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All of this is to prevent look-ahead leakage, and to stop the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 from simply memorising patterns."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CAREFUL — three slips from rehearsal to avoid on the day: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Say the agent was TRAINED on 2018-22 in study one; reserve the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word "calibrated" for the simulator in the main study.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The simulator window is 2018 to 2022 (you said "2020 to 2022").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The transfer test starts at 2006, not 2008 (2008 is merely the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crash year inside it). And it is "look-AHEAD leakage".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asked what the 21 tests check: environment accounting, feature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timing, action masking, reward-state consistency.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78F2ADB-337E-43A8-B6EA-2218DB11550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Your own words from the latest rehearsal (Slide 6 v2), tightened —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one number slip fixed, see CAREFUL: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"For the first study we can see that no agent actually beat the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buy-and-hold benchmark. This was trained on 60 real months and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tested on the 2024-to-2025 period. So technically, if you bought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asset at the beginning of January 2024 and held it to the end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of 2025, you would have earned an average of $180.25 per month.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closest learner to this was REINFORCE at $171.51, then PPO 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$127.35, and Deep Q-learning at the bottom with $74.68.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At first glance you might say: okay, that looks efficient. But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looking closer at the seed distribution --- the right-hand chart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 we see that REINFORCE and PPO, the policy methods, actually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stuck to fixed patterns: always buying, or never trading at all.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of what's to blame is the testing period itself: 2024 to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2025 was a strong upward market, so the most favourable strategy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was simply to always buy. But there was also a deeper underlying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cause --- the models overfitting --- which we will get to on the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next slide.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here is the contradiction: the only method whose decisions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DID change with its state, Deep Q-learning, earned the least.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That contradiction needed an explanation."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CAREFUL — slip from rehearsal: the closest learner was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REINFORCE at $171.51 (you said PPO). PPO was $127.35.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right-hand chart shows the per-seed detail: filled dots are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state-dependent seeds, hollow are mask-only --- point at it when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 say "looking closer at the seed distribution".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asked HOW the state-dependence test works, answer here: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"I compared moments where the agent had the SAME set of legal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actions and asked whether it picked DIFFERENT actions. If it did,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difference can only have come from the state it saw. If it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always picks the same action, it is a fixed rule, not a policy."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Next slide answers WHY this happened — the diagnosis.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30A3C08-9E0D-4AF6-988D-70E620CE597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Your own words from rehearsal (Slide 7 p1+p2), tightened —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three slips fixed, see CAREFUL at the bottom: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"For the first study we used a multi-layer perceptron with two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hidden layers of 128 units, creating around 18,000 trainable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parameters --- with only 60 data points, keep in mind. With far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more trainable weights than training months, the network can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memorise all 60 months perfectly. Nothing forces it to learn a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rule for a different market condition. It's like a student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preparing for an exam with the demo questions, then getting to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exam and seeing completely different questions.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added to this is that most of the training months --- 29 of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60 --- were rising markets, and only 16 were falling markets,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like the COVID crash in 2020. This uneven batch of market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conditions teaches the agent to always buy, because that returns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highest reward for the policy methods. Coupled with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memorisation from insufficient data, the policies did not need to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rely on the information provided by their state --- even though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state contains multiple features that describe the market and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portfolio conditions. That is why REINFORCE and PPO essentially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won by chance during the testing period, which was also a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high-rising market.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Deep Q-learning, on the other hand, was lowest because estimating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worth of an action needs many similar situations to learn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from. Sixty months that never repeat, with no balanced market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conditions, make its value estimates very noisy."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CAREFUL — slips from rehearsal: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128 units per hidden layer, not 120.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60 training months (you said "16 data points" once).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16 of 60 fell, not 19.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asked "why not just make the model smaller?" — I did also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shrink it (2,800 parameters, next slide). Both moves were needed.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A8EA7FD-E931-4877-818E-51C6A0F522D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Your own words from rehearsal (Slide 8), tightened — one recurring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slip fixed, see CAREFUL: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"After understanding the limitations of the first study, I built a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small market simulator that generates monthly prices for the main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study. It is calibrated on the same training period, 2018 to 2022.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good thing about a simulator is that we can recreate different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market conditions on demand. So we created 3,000 balanced training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episodes --- 1,000 per condition: an upward market, a downward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market, and a consolidation market where prices move side to side.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Now that we had substantial volume in the data, the other fix was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network itself. We reduced the MLP's hidden layers to 64 and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32 units --- about 2,800 parameters in total --- which sits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comfortably against 3,000 training episodes, roughly twenty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examples per... [pause] --- the data now outnumbers the parameters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about 20 to 1. The exact opposite of the first study's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60-versus-18,000.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the simulator gives us not just volume but LABELLED market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conditions: every episode is tagged rising, falling or flat, so we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 evaluate how the agent behaves in each condition separately.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real data those conditions come mixed together.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One property by construction: on the balanced test set, no fixed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pattern profits. Buy-and-hold loses $60.29 per episode; never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trading earns $0. Any positive number must come from reading the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state.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critical rule: the simulator only reads 2018 to 2022. Every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other real month --- 2006 to 2017, and 2023 to 2025 --- stays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completely untouched. Those months become the transfer test on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10. With these changes came massive changes in the results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in the behaviours the agents established."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CAREFUL — recurring slip: the calibration window is 2018 to 2022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(you said "2018 to 2012" this time, "2020 to 2022" before).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Also say "LABELLED market conditions", not "labour".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Anticipated question: "Isn't this just fitting a simple GBM?" —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Yes, deliberately. The whole point is a controlled experiment.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More realistic generators are future work; the transfer test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measures how much the simplification costs.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A183A43-FCAF-4A1E-AF8C-29650B53864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Say (this is the main result --- slow down):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"This is the main study's exam: 600 SIMULATED test episodes the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agents never saw in training --- the simulator made 3,000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training episodes, 300 validation, and these 600 for testing,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all balanced across rising, falling and flat markets.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left chart picks up the three conditions from the last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and shows what each method earned in each one. In rising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markets, Deep Q earns $473.72 of the $477.22 that always-buying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earns --- it keeps 99% of the upside. In falling markets, it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loses $103.35 where always-buying loses $663.91 --- an 84%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smaller loss, because it steps aside instead of holding on. In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flat markets it roughly matches the market. Stay in while it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rises, get out while it falls: that is the state-dependent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behaviour the first study looked for and could not find.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right chart puts all 600 episodes together. Balance removes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market's free ride --- think of testing a gambler with a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fair coin instead of a coin weighted towards heads: 'always bet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heads' stops looking clever. So blind holding loses about $60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 episode, because it pays fees and takes every falling market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full. Doing nothing earns exactly $0 --- the zero line. A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positive number is only possible if the agent's decisions change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with the market. And the ranking completely inverts: Deep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Q-learning --- the worst method on real data --- is the only one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above the line. 127 dollars per episode, profitable on all six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seeds, decisions changing with the state on all six.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why do REINFORCE and PPO end up in these fixed corners?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balanced data, always-buying loses money, so never trading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becomes the locally safe answer: it earns nothing, but it cannot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lose. Once a policy-gradient method drifts close to a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deterministic answer, its gradient carries almost no signal, so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stops exploring and gets stuck there. Deep Q-learning does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 have that failure mode --- its epsilon-greedy exploration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keeps trying every action a fraction of the time, no matter what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current policy prefers.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story becomes: the data set the limit, not the algorithm."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Seed detail if asked: REINFORCE --- 3 seeds never traded ($0.00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exactly), 2 always bought (-$58.70, matching the always-buy row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the cent), 1 learned the conditioned policy (+$83.13, keeping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$417.02 of the up-market profit, down-loss $162.11). PPO --- 5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seeds never traded, 1 fixed buying pattern, 0 state-dependent.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ANTICIPATED QUESTION (asked by Fiyin himself, so examiners may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ask it too): "Are you saying buy-and-hold would lose money by the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of 2025?" --- NO. Answer: "This is a controlled simulated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exam, not a market forecast. On the real 2024-25 data,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buy-and-hold earned $180.25 a month --- slide 6. The balanced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test deliberately removes the upward drift to check whether a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strategy has any skill beyond riding a rising market.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Buy-and-hold has none --- that is not a flaw of the market, it is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definition of buy-and-hold."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ANTICIPATED QUESTION: "Is this the transfer test?" --- NO.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Answer: "This is the simulated test set --- 600 held-out episodes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from the simulator, unseen in training. The transfer test is the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next slide: the same policies run unchanged on 180 REAL months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simulator never touched." Order of exams: training (3,000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sim) -&gt; validation (300 sim) -&gt; simulated test (600, THIS slide)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-&gt; real transfer test (180 real months, slide 10).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Exact per-condition numbers (Table 5.3, $ per episode) if asked: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Deep Q  +473.72 up / -103.35 down / +10.45 flat;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REINFORCE  +228.58 / -248.32 / +2.60;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PPO  +67.69 / -99.04 / -2.14;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Always-buy  +477.22 / -663.91 / +10.58;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Buy-and-hold  +510.17 / -710.06 / +19.00.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Timing: 3 minutes. This is the slide the examiners will remember.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00C4036-2966-4E74-8A9A-A4B1D341D6E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Say: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"The final test is the TRANSFER test: I took the policies trained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simulator and ran them, unchanged, on 180 real months the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training never saw. That's 2006 to 2017 plus 2023 to 2025 ---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everything OUTSIDE the 2018-2022 window that calibrated the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simulator.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left chart is drawn from the actual experiment data --- the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same numbers behind the dissertation figure --- and now shows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ALL the methods month by month. Notice buy-and-hold finishes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HIGHEST. I want to be honest about that: on raw return we do not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beat the market's average direction, because the market mostly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rose over these two decades. The right panel gives the means: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buy-and-hold $80.24 a month, always-buy $76.48, our agent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$60.28, REINFORCE $31.66, PPO $8.32 --- the policy-gradient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methods are weaker because most of their seeds collapsed to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fixed patterns.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 why does the agent still win? Look at the shaded band: late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2008. Buy-and-hold lost $1,665 in October 2008 alone --- you can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see its line plunge. All six of our agents held ZERO shares for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that entire month, so their line barely dips. Not because they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were told about 2008 --- they had never seen a real market in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training --- but because the volatility features they observed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matched their learned 'falling condition', so they stepped aside.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risk-adjusted return, the Sharpe ratio, our agent finishes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ahead of buy-and-hold: 0.224 against 0.198. It gives up some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upside and avoids most of the crashes."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asked why the deck's earlier draft chart differed from the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dissertation figure: it was a stylised sketch; this one is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plotted directly from sim_results.json (real_per_month), so it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now matches the thesis exactly.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Anticipated question: "Isn't the agent just classifying your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generator's regimes?" — Partly, yes. But those regularities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carried to 2008, which is not something the generator ever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produced. See viva Q&amp;A prep for the full answer.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EB13B03-6986-4652-8227-E49BA062956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Closing statement (about 90 seconds — walk the four boxes):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"To conclude. Three findings.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data set the limit, not the algorithm: 60 real months could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never teach an 18,000-weight network, and 3,000 balanced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simulated episodes could. Fixing the data flipped the winner ---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Deep Q-learning went from last on real data to the only method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that earns on the balanced test. And the caution it learned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survived reality: zero shares through October 2008, a crisis it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had never seen.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the work contributes: a careful way to evaluate --- every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decision on validation data, six matched seeds, 21 automated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tests; a behavioural test that tells a real policy apart from a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fixed habit; and a calibrated simulator that turns market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condition into something we can control.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it cannot claim: it is one asset; the simulator is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deliberately simple --- the transfer test measures exactly what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that simplicity costs; and it is six seeds without formal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significance testing.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Future work follows directly: richer simulators, rewards that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cannot be gamed by refusing to trade, and stronger evidence.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you take away one line: what these methods learn is decided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by the data they are given.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Thank you. I'm happy to take questions."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Timing: 90 seconds max. Then stop talking.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F5CF25E-710D-4B30-B927-F98A57BEA35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OFFER THIS ONLY AT THE VERY END — after the examiners confirm they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have no more questions. Never mid-presentation.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Say: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"Before we finish — if you would like to see the transfer test run,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 built a small demo. If you scan this code, or open the link I've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just put in the chat, you can watch the same 180 months play out on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your phone: buy-and-hold falling through October 2008 while the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Deep Q agent's line stays flat."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Then PASTE THE LINK IN THE TEAMS CHAT: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https://thefinix13.github.io/viva-agent-demo/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ASKED whether this is part of the dissertation: "The numbers are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dissertation's Table 5.3 transfer result exactly — the page is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just an animated view of them. Anything beyond SPY would be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post-submission engineering, not an evaluated result."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CEA91F-27C3-493C-B700-EAB8472FD9A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748B2BC-8991-46EE-9422-D6AE806A72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6A77418-C626-41F3-A195-778EBFDDE3F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1E80401-368D-48A5-92C6-D98660E024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1F5F96E-3C18-49A9-9ED1-CDB1B8FB859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F3843F-1FDA-4CB7-9DBA-2CDC293802B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FCC2C02-D39E-49CC-BD8A-546A040D03A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7937905-FD16-4685-95C2-2E2C3D246A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5380F43-41AB-4FFB-962A-06AF1242771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9E9A0E9-BA69-4AA6-AA2D-D20C7AD843A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4B8F5E0-C3C8-4E97-A0A5-FAB523CE14F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2B93705-F9B3-440A-9464-528C22D235D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1371600" y="777240"/>
            <a:ext cx="9448200" cy="1599840"/>
          </a:xfrm>
          <a:prstGeom prst="rect">
            <a:avLst/>
          </a:prstGeom>
          <a:solidFill>
            <a:srgbClr val="ECEC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r>
              <a:rPr lang="en-US" sz="3000" b="1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Evaluating Reinforcement Learning Algorithms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for Portfolio Trading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799"/>
              </a:spcBef>
            </a:pPr>
            <a:r>
              <a:rPr lang="en-US" sz="180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A Reinforcement Learning Study on the S&amp;P 500 ETF (SPY)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1371600" y="2880360"/>
            <a:ext cx="944820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Fiyinfoluwa Akano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201"/>
              </a:spcBef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URN 6962514  ·  MSc Artificial Intelligence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1400"/>
              </a:spcBef>
            </a:pPr>
            <a:r>
              <a:rPr lang="en-US" sz="150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Supervisor: Dr Cuong Nguyen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201"/>
              </a:spcBef>
            </a:pPr>
            <a:r>
              <a:rPr lang="en-US" sz="150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University of Surrey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1400"/>
              </a:spcBef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September 2026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3" descr="surrey_logo.png"/>
          <p:cNvPicPr/>
          <p:nvPr/>
        </p:nvPicPr>
        <p:blipFill>
          <a:blip r:embed="rId1"/>
          <a:stretch/>
        </p:blipFill>
        <p:spPr>
          <a:xfrm>
            <a:off x="4975560" y="5623560"/>
            <a:ext cx="2240640" cy="82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"/>
          <p:cNvSpPr/>
          <p:nvPr/>
        </p:nvSpPr>
        <p:spPr>
          <a:xfrm>
            <a:off x="502920" y="255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0" rIns="9000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The Problem (Main Research Question)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An investor holding a stock can decide each day whether to: buy, do nothing, or sell.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2"/>
          <p:cNvSpPr/>
          <p:nvPr/>
        </p:nvSpPr>
        <p:spPr>
          <a:xfrm>
            <a:off x="502920" y="1188720"/>
            <a:ext cx="456840" cy="54360"/>
          </a:xfrm>
          <a:prstGeom prst="rect">
            <a:avLst/>
          </a:prstGeom>
          <a:solidFill>
            <a:srgbClr val="E07A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2" name="Picture 3" descr="slide2_decision.png"/>
          <p:cNvPicPr/>
          <p:nvPr/>
        </p:nvPicPr>
        <p:blipFill>
          <a:blip r:embed="rId1"/>
          <a:stretch/>
        </p:blipFill>
        <p:spPr>
          <a:xfrm>
            <a:off x="2122920" y="1417320"/>
            <a:ext cx="7945200" cy="374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Rounded Rectangle 4"/>
          <p:cNvSpPr/>
          <p:nvPr/>
        </p:nvSpPr>
        <p:spPr>
          <a:xfrm>
            <a:off x="822960" y="5440680"/>
            <a:ext cx="10515240" cy="868320"/>
          </a:xfrm>
          <a:prstGeom prst="roundRect">
            <a:avLst>
              <a:gd name="adj" fmla="val 16667"/>
            </a:avLst>
          </a:prstGeom>
          <a:solidFill>
            <a:srgbClr val="FBF0E1"/>
          </a:solidFill>
          <a:ln w="19050">
            <a:solidFill>
              <a:srgbClr val="E07A1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45000" rIns="2286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Main Research Question — </a:t>
            </a:r>
            <a:r>
              <a:rPr lang="en-US" sz="150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Can reinforcement learning make these decisions better than simply buying and holding an asset long term?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5"/>
          <p:cNvSpPr/>
          <p:nvPr/>
        </p:nvSpPr>
        <p:spPr>
          <a:xfrm>
            <a:off x="11430000" y="6446520"/>
            <a:ext cx="685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2 / 11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502920" y="255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0" rIns="9000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The Trading Environment (MDP Formulation)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how reinforcement learning works — state, action, reward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ectangle 2"/>
          <p:cNvSpPr/>
          <p:nvPr/>
        </p:nvSpPr>
        <p:spPr>
          <a:xfrm>
            <a:off x="502920" y="1188720"/>
            <a:ext cx="456840" cy="54360"/>
          </a:xfrm>
          <a:prstGeom prst="rect">
            <a:avLst/>
          </a:prstGeom>
          <a:solidFill>
            <a:srgbClr val="E07A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7" name="Picture 3" descr="slide3_env_loop.png"/>
          <p:cNvPicPr/>
          <p:nvPr/>
        </p:nvPicPr>
        <p:blipFill>
          <a:blip r:embed="rId1"/>
          <a:stretch/>
        </p:blipFill>
        <p:spPr>
          <a:xfrm>
            <a:off x="2342880" y="1417320"/>
            <a:ext cx="7505640" cy="352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Box 4"/>
          <p:cNvSpPr/>
          <p:nvPr/>
        </p:nvSpPr>
        <p:spPr>
          <a:xfrm>
            <a:off x="822960" y="5074920"/>
            <a:ext cx="105152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State.</a:t>
            </a:r>
            <a:r>
              <a:rPr lang="en-US" sz="120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What the agent sees right now — market information, portfolio details, and time within the episode.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Action.</a:t>
            </a:r>
            <a:r>
              <a:rPr lang="en-US" sz="120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What the agent does with it — Buy, Hold, or Sell.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Reward.</a:t>
            </a:r>
            <a:r>
              <a:rPr lang="en-US" sz="120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The consequence — the change in portfolio wealth after fees. The agent is never told the 'correct' action, only this outcome.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Episode.</a:t>
            </a:r>
            <a:r>
              <a:rPr lang="en-US" sz="120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One month of trading (18–23 days). The loop above runs once per trading day.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11430000" y="6446520"/>
            <a:ext cx="685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3 / 11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1"/>
          <p:cNvSpPr/>
          <p:nvPr/>
        </p:nvSpPr>
        <p:spPr>
          <a:xfrm>
            <a:off x="502920" y="255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0" rIns="9000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RL Algorithms (Value-Based Methods vs Policy-Based Methods)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the three algorithms compared in the study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ectangle 2"/>
          <p:cNvSpPr/>
          <p:nvPr/>
        </p:nvSpPr>
        <p:spPr>
          <a:xfrm>
            <a:off x="502920" y="1188720"/>
            <a:ext cx="456840" cy="54360"/>
          </a:xfrm>
          <a:prstGeom prst="rect">
            <a:avLst/>
          </a:prstGeom>
          <a:solidFill>
            <a:srgbClr val="E07A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2" name="Picture 3" descr="slide4_algorithms.png"/>
          <p:cNvPicPr/>
          <p:nvPr/>
        </p:nvPicPr>
        <p:blipFill>
          <a:blip r:embed="rId1"/>
          <a:stretch/>
        </p:blipFill>
        <p:spPr>
          <a:xfrm>
            <a:off x="1208520" y="1417320"/>
            <a:ext cx="9774720" cy="448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Box 4"/>
          <p:cNvSpPr/>
          <p:nvPr/>
        </p:nvSpPr>
        <p:spPr>
          <a:xfrm>
            <a:off x="502920" y="626364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REINFORCE and DQN are implemented from scratch. PPO uses the standard library — a modern reference point.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5"/>
          <p:cNvSpPr/>
          <p:nvPr/>
        </p:nvSpPr>
        <p:spPr>
          <a:xfrm>
            <a:off x="11430000" y="6446520"/>
            <a:ext cx="685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4 / 11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Box 1"/>
          <p:cNvSpPr/>
          <p:nvPr/>
        </p:nvSpPr>
        <p:spPr>
          <a:xfrm>
            <a:off x="502920" y="255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0" rIns="9000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Dataset Splits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To avoid look-ahead leakage — data was not shuffled and episodes were made independent of one another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 2"/>
          <p:cNvSpPr/>
          <p:nvPr/>
        </p:nvSpPr>
        <p:spPr>
          <a:xfrm>
            <a:off x="502920" y="1188720"/>
            <a:ext cx="456840" cy="54360"/>
          </a:xfrm>
          <a:prstGeom prst="rect">
            <a:avLst/>
          </a:prstGeom>
          <a:solidFill>
            <a:srgbClr val="E07A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7" name="Picture 3" descr="slide5_rules.png"/>
          <p:cNvPicPr/>
          <p:nvPr/>
        </p:nvPicPr>
        <p:blipFill>
          <a:blip r:embed="rId1"/>
          <a:stretch/>
        </p:blipFill>
        <p:spPr>
          <a:xfrm>
            <a:off x="917280" y="1417320"/>
            <a:ext cx="10357200" cy="448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Box 4"/>
          <p:cNvSpPr/>
          <p:nvPr/>
        </p:nvSpPr>
        <p:spPr>
          <a:xfrm>
            <a:off x="502920" y="626364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Two studies, two splits — the first is chronological; the second uses a simulator trained with the same training months and holds out every other real month for testing.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5"/>
          <p:cNvSpPr/>
          <p:nvPr/>
        </p:nvSpPr>
        <p:spPr>
          <a:xfrm>
            <a:off x="11430000" y="6446520"/>
            <a:ext cx="685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5 / 11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1"/>
          <p:cNvSpPr/>
          <p:nvPr/>
        </p:nvSpPr>
        <p:spPr>
          <a:xfrm>
            <a:off x="502920" y="255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0" rIns="9000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First Study - No agent beat the buy-and-hold benchmark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trained on 60 real months, tested on 2024–2025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 2"/>
          <p:cNvSpPr/>
          <p:nvPr/>
        </p:nvSpPr>
        <p:spPr>
          <a:xfrm>
            <a:off x="502920" y="1188720"/>
            <a:ext cx="456840" cy="54360"/>
          </a:xfrm>
          <a:prstGeom prst="rect">
            <a:avLst/>
          </a:prstGeom>
          <a:solidFill>
            <a:srgbClr val="E07A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Picture 3" descr="slide6_first_result.png"/>
          <p:cNvPicPr/>
          <p:nvPr/>
        </p:nvPicPr>
        <p:blipFill>
          <a:blip r:embed="rId1"/>
          <a:stretch/>
        </p:blipFill>
        <p:spPr>
          <a:xfrm>
            <a:off x="320040" y="1417320"/>
            <a:ext cx="6034680" cy="3523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Picture 4" descr="image4.png"/>
          <p:cNvPicPr/>
          <p:nvPr/>
        </p:nvPicPr>
        <p:blipFill>
          <a:blip r:embed="rId2"/>
          <a:stretch/>
        </p:blipFill>
        <p:spPr>
          <a:xfrm>
            <a:off x="6492240" y="1600200"/>
            <a:ext cx="5394600" cy="319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Box 5"/>
          <p:cNvSpPr/>
          <p:nvPr/>
        </p:nvSpPr>
        <p:spPr>
          <a:xfrm>
            <a:off x="502920" y="5760720"/>
            <a:ext cx="11155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No agent beat the buy-and-hold benchmark. The methods that earned the most did not act on the information provided by their state on any seed; the only method whose decisions changed with its state earned the least. The contradiction needed an explanation.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6"/>
          <p:cNvSpPr/>
          <p:nvPr/>
        </p:nvSpPr>
        <p:spPr>
          <a:xfrm>
            <a:off x="11430000" y="6446520"/>
            <a:ext cx="685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6 / 11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1"/>
          <p:cNvSpPr/>
          <p:nvPr/>
        </p:nvSpPr>
        <p:spPr>
          <a:xfrm>
            <a:off x="502920" y="255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0" rIns="9000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The diagnosis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Data: is the historical record of one asset large enough to train these networks at all?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2"/>
          <p:cNvSpPr/>
          <p:nvPr/>
        </p:nvSpPr>
        <p:spPr>
          <a:xfrm>
            <a:off x="502920" y="1188720"/>
            <a:ext cx="456840" cy="54360"/>
          </a:xfrm>
          <a:prstGeom prst="rect">
            <a:avLst/>
          </a:prstGeom>
          <a:solidFill>
            <a:srgbClr val="E07A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8" name="Picture 3" descr="slide7_diagnosis_first.png"/>
          <p:cNvPicPr/>
          <p:nvPr/>
        </p:nvPicPr>
        <p:blipFill>
          <a:blip r:embed="rId1"/>
          <a:stretch/>
        </p:blipFill>
        <p:spPr>
          <a:xfrm>
            <a:off x="457200" y="1463040"/>
            <a:ext cx="5211720" cy="400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TextBox 4"/>
          <p:cNvSpPr/>
          <p:nvPr/>
        </p:nvSpPr>
        <p:spPr>
          <a:xfrm>
            <a:off x="5989320" y="1600200"/>
            <a:ext cx="566892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The network is a multi-layer perceptron (MLP).</a:t>
            </a:r>
            <a:r>
              <a:rPr lang="en-US" sz="12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Two hidden layers of 128 units — 9 inputs → 128 → 128 → 3 actions — is roughly 18,000 trainable weights.</a:t>
            </a:r>
            <a:endParaRPr lang="en-GB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60 examples are far too few for 18,000 weights.</a:t>
            </a:r>
            <a:r>
              <a:rPr lang="en-US" sz="12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The network can memorise all 60 training months perfectly, preventing it from learning anything new — like a student who memorises the demo questions and then meets a completely different exam.</a:t>
            </a:r>
            <a:endParaRPr lang="en-GB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The training months lean upward.</a:t>
            </a:r>
            <a:r>
              <a:rPr lang="en-US" sz="12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29 of the 60 rose by more than 2%; only 16 fell (the COVID crash among them). In that market, 'always buy' is almost the best possible answer — and it needs no market information.</a:t>
            </a:r>
            <a:endParaRPr lang="en-GB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Why Deep Q-learning earned least.</a:t>
            </a:r>
            <a:r>
              <a:rPr lang="en-US" sz="12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Estimating what an action is worth needs many visits to similar situations; sixty ever-shifting months never repeat, so its value estimates stayed noisy.</a:t>
            </a:r>
            <a:endParaRPr lang="en-GB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None of this can be tested on the real data — the real data is the problem.</a:t>
            </a:r>
            <a:r>
              <a:rPr lang="en-US" sz="12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Testing it needs control over volume, balance and market conditions. That is what the main study builds → next slide.</a:t>
            </a:r>
            <a:endParaRPr lang="en-GB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5"/>
          <p:cNvSpPr/>
          <p:nvPr/>
        </p:nvSpPr>
        <p:spPr>
          <a:xfrm>
            <a:off x="11430000" y="6446520"/>
            <a:ext cx="685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7 / 11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/>
          <p:nvPr/>
        </p:nvSpPr>
        <p:spPr>
          <a:xfrm>
            <a:off x="502920" y="255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0" rIns="9000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The Main Study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a simulator calibrated on the training months; and a smaller MLP network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ectangle 2"/>
          <p:cNvSpPr/>
          <p:nvPr/>
        </p:nvSpPr>
        <p:spPr>
          <a:xfrm>
            <a:off x="502920" y="1188720"/>
            <a:ext cx="456840" cy="54360"/>
          </a:xfrm>
          <a:prstGeom prst="rect">
            <a:avLst/>
          </a:prstGeom>
          <a:solidFill>
            <a:srgbClr val="E07A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3" name="Picture 3" descr="slide9_simulator.png"/>
          <p:cNvPicPr/>
          <p:nvPr/>
        </p:nvPicPr>
        <p:blipFill>
          <a:blip r:embed="rId1"/>
          <a:stretch/>
        </p:blipFill>
        <p:spPr>
          <a:xfrm>
            <a:off x="457200" y="1554480"/>
            <a:ext cx="6949080" cy="3132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Picture 4" descr="slide8_diagnosis_main.png"/>
          <p:cNvPicPr/>
          <p:nvPr/>
        </p:nvPicPr>
        <p:blipFill>
          <a:blip r:embed="rId2"/>
          <a:stretch/>
        </p:blipFill>
        <p:spPr>
          <a:xfrm>
            <a:off x="7724520" y="1508760"/>
            <a:ext cx="3844080" cy="329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Box 5"/>
          <p:cNvSpPr/>
          <p:nvPr/>
        </p:nvSpPr>
        <p:spPr>
          <a:xfrm>
            <a:off x="822960" y="4892040"/>
            <a:ext cx="1078956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A Market generator</a:t>
            </a:r>
            <a:r>
              <a:rPr lang="en-US" sz="120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- with three known conditions: Rising, Falling, and Consolidating months, calibrated on the 60 real training months only — every other real month stays untouched for testing.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More Volume</a:t>
            </a:r>
            <a:r>
              <a:rPr lang="en-US" sz="120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- 3,000 balanced training episodes (1,000 per condition), 300 validation, 600 test — about 60,000 transitions per pass.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MLP Network</a:t>
            </a:r>
            <a:r>
              <a:rPr lang="en-US" sz="120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- Cut to 64 and 32 hidden units ≈ 2,800 parameters, so the training data now outnumbers the parameters: 60,000 transitions ÷ 2,800 weights ≈ 20 examples per weight.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On the balanced test, no fixed pattern is profitable.</a:t>
            </a:r>
            <a:r>
              <a:rPr lang="en-US" sz="120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Buy-and-hold loses $60.29 per episode. Any profit must come from reading the state.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6"/>
          <p:cNvSpPr/>
          <p:nvPr/>
        </p:nvSpPr>
        <p:spPr>
          <a:xfrm>
            <a:off x="11430000" y="6446520"/>
            <a:ext cx="685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8 / 11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/>
          <p:cNvSpPr/>
          <p:nvPr/>
        </p:nvSpPr>
        <p:spPr>
          <a:xfrm>
            <a:off x="502920" y="255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0" rIns="9000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The Analysis — controlled data, properly sized model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Deep Q-learning improves overall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2"/>
          <p:cNvSpPr/>
          <p:nvPr/>
        </p:nvSpPr>
        <p:spPr>
          <a:xfrm>
            <a:off x="502920" y="1188720"/>
            <a:ext cx="456840" cy="54360"/>
          </a:xfrm>
          <a:prstGeom prst="rect">
            <a:avLst/>
          </a:prstGeom>
          <a:solidFill>
            <a:srgbClr val="E07A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9" name="Picture 3" descr="slide10_conditions.png"/>
          <p:cNvPicPr/>
          <p:nvPr/>
        </p:nvPicPr>
        <p:blipFill>
          <a:blip r:embed="rId1"/>
          <a:stretch/>
        </p:blipFill>
        <p:spPr>
          <a:xfrm>
            <a:off x="457200" y="1371600"/>
            <a:ext cx="5577480" cy="3948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Picture 4" descr="slide10_overall.png"/>
          <p:cNvPicPr/>
          <p:nvPr/>
        </p:nvPicPr>
        <p:blipFill>
          <a:blip r:embed="rId2"/>
          <a:stretch/>
        </p:blipFill>
        <p:spPr>
          <a:xfrm>
            <a:off x="6368760" y="1371600"/>
            <a:ext cx="527616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TextBox 5"/>
          <p:cNvSpPr/>
          <p:nvPr/>
        </p:nvSpPr>
        <p:spPr>
          <a:xfrm>
            <a:off x="502920" y="5532120"/>
            <a:ext cx="55774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In the simulated held-out test set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Left — DQN performed well in all market conditions</a:t>
            </a:r>
            <a:r>
              <a:rPr lang="en-US" sz="11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	</a:t>
            </a:r>
            <a:r>
              <a:rPr lang="en-US" sz="11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— keeping $473.72 of the $477.22 always-buy earns in rising markets (99%), 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	</a:t>
            </a:r>
            <a:r>
              <a:rPr lang="en-US" sz="11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— and losing $103.35 where always-buy loses $663.91 in falling ones (84% less).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6"/>
          <p:cNvSpPr/>
          <p:nvPr/>
        </p:nvSpPr>
        <p:spPr>
          <a:xfrm>
            <a:off x="6172200" y="5532120"/>
            <a:ext cx="5760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Right — only Deep Q-learning earns.</a:t>
            </a:r>
            <a:r>
              <a:rPr lang="en-US" sz="11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+$126.94 per episode on all six seeds. This is simulated data, not real-market prediction: with no constant rising markets, fixed patterns lose to transaction fees and falling markets.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REINFORCE and PPO collapse to fixed patterns again</a:t>
            </a:r>
            <a:r>
              <a:rPr lang="en-US" sz="11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— never trade, or always buy. One REINFORCE seed in six established a policy that relies on information from the state (+$83.13), but the method does not find it reliably.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7"/>
          <p:cNvSpPr/>
          <p:nvPr/>
        </p:nvSpPr>
        <p:spPr>
          <a:xfrm>
            <a:off x="11430000" y="6446520"/>
            <a:ext cx="685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9 / 11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1"/>
          <p:cNvSpPr/>
          <p:nvPr/>
        </p:nvSpPr>
        <p:spPr>
          <a:xfrm>
            <a:off x="502920" y="255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0" rIns="9000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The transfer test — 180 real months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policies trained on the simulator, running unchanged on real data — including the 2008 crash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ectangle 2"/>
          <p:cNvSpPr/>
          <p:nvPr/>
        </p:nvSpPr>
        <p:spPr>
          <a:xfrm>
            <a:off x="502920" y="1188720"/>
            <a:ext cx="456840" cy="54360"/>
          </a:xfrm>
          <a:prstGeom prst="rect">
            <a:avLst/>
          </a:prstGeom>
          <a:solidFill>
            <a:srgbClr val="E07A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6" name="Picture 3" descr="slide11_lines.png"/>
          <p:cNvPicPr/>
          <p:nvPr/>
        </p:nvPicPr>
        <p:blipFill>
          <a:blip r:embed="rId1"/>
          <a:stretch/>
        </p:blipFill>
        <p:spPr>
          <a:xfrm>
            <a:off x="365760" y="1417320"/>
            <a:ext cx="7223400" cy="415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Picture 4" descr="slide11_bars.png"/>
          <p:cNvPicPr/>
          <p:nvPr/>
        </p:nvPicPr>
        <p:blipFill>
          <a:blip r:embed="rId2"/>
          <a:stretch/>
        </p:blipFill>
        <p:spPr>
          <a:xfrm>
            <a:off x="7498080" y="1417320"/>
            <a:ext cx="4297320" cy="4172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Box 5"/>
          <p:cNvSpPr/>
          <p:nvPr/>
        </p:nvSpPr>
        <p:spPr>
          <a:xfrm>
            <a:off x="502920" y="626364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Sharpe ratio (risk-adjusted return): 0.224 for our agent vs 0.198 for buy-and-hold, over 180 real months.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6"/>
          <p:cNvSpPr/>
          <p:nvPr/>
        </p:nvSpPr>
        <p:spPr>
          <a:xfrm>
            <a:off x="11430000" y="6446520"/>
            <a:ext cx="685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10 / 11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"/>
          <p:cNvSpPr/>
          <p:nvPr/>
        </p:nvSpPr>
        <p:spPr>
          <a:xfrm>
            <a:off x="502920" y="255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0" rIns="9000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Conclusions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findings · contributions · limitations · future work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2"/>
          <p:cNvSpPr/>
          <p:nvPr/>
        </p:nvSpPr>
        <p:spPr>
          <a:xfrm>
            <a:off x="502920" y="1188720"/>
            <a:ext cx="456840" cy="54360"/>
          </a:xfrm>
          <a:prstGeom prst="rect">
            <a:avLst/>
          </a:prstGeom>
          <a:solidFill>
            <a:srgbClr val="E07A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Rounded Rectangle 3"/>
          <p:cNvSpPr/>
          <p:nvPr/>
        </p:nvSpPr>
        <p:spPr>
          <a:xfrm>
            <a:off x="411480" y="1170360"/>
            <a:ext cx="5577480" cy="2431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1F33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4"/>
          <p:cNvSpPr/>
          <p:nvPr/>
        </p:nvSpPr>
        <p:spPr>
          <a:xfrm>
            <a:off x="640080" y="1298520"/>
            <a:ext cx="5120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0" rIns="9000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Findings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5"/>
          <p:cNvSpPr/>
          <p:nvPr/>
        </p:nvSpPr>
        <p:spPr>
          <a:xfrm>
            <a:off x="667440" y="1700640"/>
            <a:ext cx="5065560" cy="174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The data caused the limitation, not the algorithm.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60 real months could never teach an 18,000-weighted network; but 3,000 balanced simulated episodes could.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Balanced data separated the algorithms.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Deep Q-learning learned a state-dependent policy on all six seeds; REINFORCE and PPO mostly collapsed to fixed habits — always buying, or never trading.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The learned behaviour carried into real markets.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Run on 180 unseen months, every method stayed profitable — and Deep Q moved to zero shares through the October 2008 crash, a period no agent had ever seen.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6"/>
          <p:cNvSpPr/>
          <p:nvPr/>
        </p:nvSpPr>
        <p:spPr>
          <a:xfrm>
            <a:off x="411480" y="3712320"/>
            <a:ext cx="5577480" cy="2431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E07A1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7"/>
          <p:cNvSpPr/>
          <p:nvPr/>
        </p:nvSpPr>
        <p:spPr>
          <a:xfrm>
            <a:off x="640080" y="3840480"/>
            <a:ext cx="5120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0" rIns="9000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E07A1F"/>
                </a:solidFill>
                <a:effectLst/>
                <a:uFillTx/>
                <a:latin typeface="Calibri"/>
              </a:rPr>
              <a:t>Contributions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8"/>
          <p:cNvSpPr/>
          <p:nvPr/>
        </p:nvSpPr>
        <p:spPr>
          <a:xfrm>
            <a:off x="667440" y="4242960"/>
            <a:ext cx="5065560" cy="174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A careful way to evaluate.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Every decision was made on validation data, with six seeds, and automated tests protecting the accounting.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A behavioural test.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It tells whether a policy genuinely reads the market apart from a fixed habit — and changed how every result was read.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A calibrated simulator.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It turns market condition into something we can control and test, grown from 60 real months.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ounded Rectangle 9"/>
          <p:cNvSpPr/>
          <p:nvPr/>
        </p:nvSpPr>
        <p:spPr>
          <a:xfrm>
            <a:off x="6217920" y="1170360"/>
            <a:ext cx="5577480" cy="2431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C0392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6446520" y="1298520"/>
            <a:ext cx="5120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0" rIns="9000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Limitations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1"/>
          <p:cNvSpPr/>
          <p:nvPr/>
        </p:nvSpPr>
        <p:spPr>
          <a:xfrm>
            <a:off x="6473880" y="1700640"/>
            <a:ext cx="5065560" cy="174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One asset.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We studied SPY only, so the findings do not automatically carry to other markets.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A deliberately simple simulator.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Months are categorized by their rising / falling / consolidating conditions with no market changes inside a month.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Policy-gradient methods were not separately tuned.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Modest evidence.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Six seeds with no formal significance tests.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ounded Rectangle 12"/>
          <p:cNvSpPr/>
          <p:nvPr/>
        </p:nvSpPr>
        <p:spPr>
          <a:xfrm>
            <a:off x="6217920" y="3712320"/>
            <a:ext cx="5577480" cy="2431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2A9D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13"/>
          <p:cNvSpPr/>
          <p:nvPr/>
        </p:nvSpPr>
        <p:spPr>
          <a:xfrm>
            <a:off x="6446520" y="3840480"/>
            <a:ext cx="5120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0" rIns="9000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2A9D3D"/>
                </a:solidFill>
                <a:effectLst/>
                <a:uFillTx/>
                <a:latin typeface="Calibri"/>
              </a:rPr>
              <a:t>Future work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14"/>
          <p:cNvSpPr/>
          <p:nvPr/>
        </p:nvSpPr>
        <p:spPr>
          <a:xfrm>
            <a:off x="6473880" y="4242960"/>
            <a:ext cx="5065560" cy="174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Better simulators.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Markets should realistically include changes inside an episode rather than fixed categories.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Continuous episodes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to capture a realistic market where months carry over into each other with volatility, and walk-forward recalibration.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Better reward function.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This prevents an agent from refusing to trade.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Stronger evidence.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More seeds with confidence intervals, and use of other assets.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15"/>
          <p:cNvSpPr/>
          <p:nvPr/>
        </p:nvSpPr>
        <p:spPr>
          <a:xfrm>
            <a:off x="502920" y="626364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What these methods learn is decided by the data they are given.  —  Thank you.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16"/>
          <p:cNvSpPr/>
          <p:nvPr/>
        </p:nvSpPr>
        <p:spPr>
          <a:xfrm>
            <a:off x="11430000" y="6446520"/>
            <a:ext cx="685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11 / 11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"/>
          <p:cNvSpPr/>
          <p:nvPr/>
        </p:nvSpPr>
        <p:spPr>
          <a:xfrm>
            <a:off x="502920" y="255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0" rIns="9000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See it run — a live demo on your phone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the transfer test as an animation: the same 180 months, drawn month by month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ectangle 2"/>
          <p:cNvSpPr/>
          <p:nvPr/>
        </p:nvSpPr>
        <p:spPr>
          <a:xfrm>
            <a:off x="502920" y="1188720"/>
            <a:ext cx="456840" cy="54360"/>
          </a:xfrm>
          <a:prstGeom prst="rect">
            <a:avLst/>
          </a:prstGeom>
          <a:solidFill>
            <a:srgbClr val="E07A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Rounded Rectangle 3"/>
          <p:cNvSpPr/>
          <p:nvPr/>
        </p:nvSpPr>
        <p:spPr>
          <a:xfrm>
            <a:off x="411480" y="1325880"/>
            <a:ext cx="3931560" cy="461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1F33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4"/>
          <p:cNvSpPr/>
          <p:nvPr/>
        </p:nvSpPr>
        <p:spPr>
          <a:xfrm>
            <a:off x="640080" y="1454040"/>
            <a:ext cx="3474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0" rIns="9000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Scan to open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" name="Picture 5" descr="qr_demo.png"/>
          <p:cNvPicPr/>
          <p:nvPr/>
        </p:nvPicPr>
        <p:blipFill>
          <a:blip r:embed="rId1"/>
          <a:stretch/>
        </p:blipFill>
        <p:spPr>
          <a:xfrm>
            <a:off x="960120" y="1965960"/>
            <a:ext cx="2834280" cy="283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TextBox 6"/>
          <p:cNvSpPr/>
          <p:nvPr/>
        </p:nvSpPr>
        <p:spPr>
          <a:xfrm>
            <a:off x="667440" y="4983480"/>
            <a:ext cx="3419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thefinix13.github.io/viva-agent-demo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Picture 7" descr="demo_phone.png"/>
          <p:cNvPicPr/>
          <p:nvPr/>
        </p:nvPicPr>
        <p:blipFill>
          <a:blip r:embed="rId2"/>
          <a:stretch/>
        </p:blipFill>
        <p:spPr>
          <a:xfrm>
            <a:off x="4617720" y="1325880"/>
            <a:ext cx="3506760" cy="461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Rounded Rectangle 8"/>
          <p:cNvSpPr/>
          <p:nvPr/>
        </p:nvSpPr>
        <p:spPr>
          <a:xfrm>
            <a:off x="8366760" y="1325880"/>
            <a:ext cx="3428640" cy="461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2A9D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9"/>
          <p:cNvSpPr/>
          <p:nvPr/>
        </p:nvSpPr>
        <p:spPr>
          <a:xfrm>
            <a:off x="8595360" y="1454040"/>
            <a:ext cx="2971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0" rIns="9000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2A9D3D"/>
                </a:solidFill>
                <a:effectLst/>
                <a:uFillTx/>
                <a:latin typeface="Calibri"/>
              </a:rPr>
              <a:t>What it shows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10"/>
          <p:cNvSpPr/>
          <p:nvPr/>
        </p:nvSpPr>
        <p:spPr>
          <a:xfrm>
            <a:off x="8622720" y="1874520"/>
            <a:ext cx="291672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The transfer test, animated.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The cumulative-wealth lines draw themselves month by month across the 180 unseen months.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October 2008, as it happens.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Buy-and-hold plunges through the crash band; the Deep Q line stays flat — it holds zero shares.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050" b="1" u="none" strike="noStrike">
                <a:solidFill>
                  <a:srgbClr val="1F335A"/>
                </a:solidFill>
                <a:effectLst/>
                <a:uFillTx/>
                <a:latin typeface="Calibri"/>
              </a:rPr>
              <a:t>The real numbers.</a:t>
            </a:r>
            <a:r>
              <a:rPr lang="en-US" sz="1050" b="0" u="none" strike="noStrike">
                <a:solidFill>
                  <a:srgbClr val="1E1E1E"/>
                </a:solidFill>
                <a:effectLst/>
                <a:uFillTx/>
                <a:latin typeface="Calibri"/>
              </a:rPr>
              <a:t> Every line ends on its Table 5.3 value — this is the evaluated result, not a mock-up.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11"/>
          <p:cNvSpPr/>
          <p:nvPr/>
        </p:nvSpPr>
        <p:spPr>
          <a:xfrm>
            <a:off x="502920" y="626364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A demo of the SPY evaluated results from the dissertation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en-GB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