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53"/>
  </p:normalViewPr>
  <p:slideViewPr>
    <p:cSldViewPr snapToGrid="0">
      <p:cViewPr>
        <p:scale>
          <a:sx n="137" d="100"/>
          <a:sy n="137" d="100"/>
        </p:scale>
        <p:origin x="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E8AA4A-2D35-4058-A3EE-3167D446ABDB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 — your own words from rehearsal, spoken slowly.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"Good morning, professors. Today I'll be presenting my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dissertation, which is an evaluation of reinforcement learning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algorithms for portfolio trading --- the applicable field here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being finance: trading a stock-market fund.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I'll take you through it in eleven slides: first the problem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how reinforcement learning fits it, then the two studies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what they showed."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introduce yourself as an RL expert. The second examiner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from the Institute for Communication Systems and may know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neither RL nor finance. Keep every explanation plain.</a:t>
            </a:r>
          </a:p>
        </p:txBody>
      </p:sp>
      <p:sp>
        <p:nvSpPr>
          <p:cNvPr id="20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3E7F28-C913-45DE-B725-C56FE7EB3C4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— keep this flow: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"So what exactly is the problem, or the research question?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regular person who invests in stocks decides on a day-to-day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basis whether to buy more shares, leave the position and do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nothing, or sell --- depending on a number of reasons. Maybe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market is declining and they want to protect their profit,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they simply need cash at hand for an emergency.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leads to the main research question: can a reinforcement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learning algorithm learn a strategy that is overall better than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simply buying and holding the asset for the long term?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Performance here can be measured in two ways. First, how much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profitable the learned strategy is compared to just buying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holding. Second, whether the learned policy reduces its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exposure --- holds fewer shares --- during a market decline,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protecting wealth in exactly the periods that matter."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60 seconds. Questions 2 (behaviour) and 3 (data) are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on this slide — they arrive naturally on slides 7 and 8.</a:t>
            </a:r>
          </a:p>
        </p:txBody>
      </p:sp>
      <p:sp>
        <p:nvSpPr>
          <p:cNvPr id="20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AF1448-D689-4B44-B8FB-32BA089D00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— keep this flow: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"To understand the trading environment, we first need to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understand how reinforcement learning works.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Unlike supervised learning, where a model is given true labels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predict from a data set, reinforcement learning learns by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trial and error --- from the rewards obtained by taking an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 in the current state.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 me break that down with the diagram. We have an agent and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environment. The agent is a small neural network --- in our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 a policy network pi, or a Q-network Q --- which uses its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state to choose an action: buy, hold, or sell.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environment is the world the agent acts in. An episode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month of trading --- typically 18 to 23 trading days,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depending on the month. So the environment is the portfolio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 that month: it executes the action, applies the trading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fee, the price moves to the next day, and it hands back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state and the reward --- the change in portfolio wealth."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mention MDPs, Bellman equations, or policy vs value here.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comes on the next slide (the three algorithms).</a:t>
            </a:r>
          </a:p>
        </p:txBody>
      </p:sp>
      <p:sp>
        <p:nvSpPr>
          <p:cNvPr id="21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6DE970-A1D2-4900-AB0C-05A33F2881E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(about 60 seconds):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"Before the algorithms — what does the agent actually see each day?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most ten numbers. Five describe the market: the day's return,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five-day momentum, a five-day volatility, the gap between the price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its twenty-day average, and the true range --- the size of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recent daily swings. Four describe the agent's own situation: how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much cash is left, how big its position is, whether that position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profit, and how far through the month we are.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rules shaped this list. Nothing redundant --- a feature joins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if the others cannot recover its information. And nothing from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future --- everything is computable at decision time.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tenth number, drawdown --- the worst dip the portfolio has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suffered this month --- is deliberately kept OUT of the base state.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joins only in the risk experiments, so we can measure whether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seeing loss history changes behaviour at all. That experiment comes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later."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read the formula column aloud --- it is there so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examiners can check each feature is well-defined. If asked,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legend is in the caption: P price, C cash, h shares held, W wealth.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 (Nguyen): "What is the formulation of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drawdown?" Answer: dd_t = (peak wealth so far minus current wealth)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divided by peak wealth so far, within the episode — a number in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[0, 1], 0 when at a new high.</a:t>
            </a:r>
          </a:p>
        </p:txBody>
      </p:sp>
      <p:sp>
        <p:nvSpPr>
          <p:cNvPr id="21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D06D09-CD0E-4638-B0BE-39021F3BF8C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(about 60 seconds):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"One piece of plumbing worth showing, because every result depends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it: action masking.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agent cannot buy when it has no cash left, and it cannot sell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shares it does not hold. So each day the environment hands it three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switches --- hold, buy, sell --- each one on or off. Cash decides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buy switch, holdings decide the sell switch, and hold is always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on. The mask carries no market information; it is built from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portfolio the agent already knows. It is a constraint, not a hint.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algorithm respects it in its own way. For REINFORCE and PPO,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unavailable actions are removed before the softmax, so their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probabilities are exactly zero. For Deep Q-learning it applies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twice: the agent picks the best legal action when acting, and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inside the learning target the maximum runs over legal actions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--- no value is ever assigned to an impossible move.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it is verified: the test suite includes mask-timing tests that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fail if an illegal action ever slips through."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 (Nguyen): "Is the mask part of the state?"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no — it is derived from the portfolio part of the state and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acts as a constraint on action selection; it adds no information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state does not already contain.</a:t>
            </a:r>
          </a:p>
        </p:txBody>
      </p:sp>
      <p:sp>
        <p:nvSpPr>
          <p:cNvPr id="21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CADBBF-EBC5-4A15-A1F2-EEA726FBC24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rehearsal, tightened: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"Moving on to the reinforcement learning algorithms. There are two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families here: policy-based methods, where REINFORCE and PPO fall,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value-based methods, like Deep Q-learning.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Q-learning learns the VALUE of an action. It estimates how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each action is --- how good is buying here, how good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selling here --- and picks the action with the highest estimate.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learns the POLICY directly. The policy is a probability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distribution over actions --- say buy at 0.6, sell at 0.3, hold 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0.1. It adjusts those probabilities based on the outcome that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followed: actions that led to profit become more likely, actions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led to loss become less likely.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PPO is exactly like REINFORCE, but it learns the policy in a safer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manner. It has a clipping parameter that caps how large any single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 to the policy can be, so the new policy never strays too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far from the old one.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and Deep Q-learning I wrote from scratch. For PPO I used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standard library implementation deliberately --- it is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modern reference point."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90 seconds. Don't try to derive anything here — the full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objectives are on backup slides 14-16 if they ask.</a:t>
            </a:r>
          </a:p>
        </p:txBody>
      </p:sp>
      <p:sp>
        <p:nvSpPr>
          <p:cNvPr id="22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E9B06D-D87C-434E-9989-BDEDA0CAD9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(about 60 seconds — read the BOLD lines, never the symbols):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"For the examiners' reference, the update rules themselves. In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plain words: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Q-learning learns a score for each action --- how much money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expects that action to lead to --- and picks the best. Training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shrinks the gap between its current score and a better-informed one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computed a day later: the reward it actually received, plus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legal score in the next state. The frozen copy of the network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holds that target still while it learns.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is simpler: after each month it looks back at every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 and asks how much money followed it. Actions followed by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money than usual become more likely; the rest less likely.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PPO is that same rule with a safety limit: no single update may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how likely any action is by more than a small fraction.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difference --- learned values with forced exploration, versus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probabilities that can quietly collapse --- is exactly why their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behaviour splits in the results."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about G_t: it is the reward-to-go --- everything earned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that action to the end of the month. An action is credited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with what came after it, not before.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about the baseline / variance: in practice the code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subtracts the average return from G_t before the update. That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removes noise (one lucky month cannot swing the policy) without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changing the expected direction, because E[grad log pi] = 0.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for a derivation, do it on the REINFORCE gradient: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log-derivative trick, then a Monte-Carlo average over sampled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episodes.</a:t>
            </a:r>
          </a:p>
        </p:txBody>
      </p:sp>
      <p:sp>
        <p:nvSpPr>
          <p:cNvPr id="22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CFC336-6F88-494F-8F37-A815B92A50C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rehearsal, tightened (three slips fixed —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the CAREFUL notes at the bottom):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"Now for the dataset splits. The first study used real data from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SPY index, to be as realistic as possible --- but this did not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turn out great, which led to the main study we will come back to.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bar: we used 2018 to 2022 as the training set --- 60 monthly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episodes the agent was TRAINED on. For validation we used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of 2023: that is where the hyper-parameters were tuned, to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 one setting for every test so the comparisons stay equal.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was 2024 to 2025, touched exactly once at the end.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Because of the dataset constraints, the main study moved to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simulator plus transfer tests, where we generated far more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episodes than the 60 real months could give. We kept the same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2018-to-2022 window, but now it CALIBRATES the simulator rather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 training the agent. From it we generated 3,000 episodes: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1,000 for upward markets, 1,000 for downward markets, and 1,000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consolidating markets, where the price stays in the same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range. Testing was then done on real months from 2006 to 2017 ---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covering the 2008 market crash --- and from 2023 to 2025: 180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months in total that were never shown to the agents whatsoever.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of this is to prevent look-ahead leakage, and to stop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from simply memorising patterns."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three slips from rehearsal to avoid on the day: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Say the agent was TRAINED on 2018-22 in study one; reserve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word "calibrated" for the simulator in the main study.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The simulator window is 2018 to 2022 (you said "2020 to 2022").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The transfer test starts at 2006, not 2008 (2008 is merely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crash year inside it). And it is "look-AHEAD leakage".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what the 21 tests check: environment accounting, feature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timing, action masking, reward-state consistency.</a:t>
            </a:r>
          </a:p>
        </p:txBody>
      </p:sp>
      <p:sp>
        <p:nvSpPr>
          <p:cNvPr id="22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436E69-A280-45ED-9681-473FEA031F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(about 75 seconds):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"Before the first study's results, a word on what validation was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actually FOR. Three things were decided there, then frozen.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trade size. Each Buy commits a fixed fraction of starting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capital. We swept that fraction on the 2023 validation months, and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quarter of capital was the smallest size that reached at least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90% of buy-and-hold's exposure --- big enough for decisions to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count, small enough to keep cash in hand for falling months.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transaction fee: 0.05% per trade, five basis points, the same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every agent and every benchmark. Later, in the robustness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sweep, we pushed that to ten times the level and Deep Q-learning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stayed profitable.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the risk coefficient, lambda. The risk-aware reward subtracts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lambda times drawdown from the wealth change. We swept lambda from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zero to two on the simulated validation episodes. Past 0.25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simply stops trading --- the penalty outweighs any gain. Our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rule kept a floor on wealth and exposure, and the largest lambda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passed was 0.25, which cut drawdown by 46.6%.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None of these numbers ever touched the test sets. That is the rule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the whole study: decide on validation, freeze, then open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data once, at the end."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 (Nguyen): "Why lambda = 0.25 and not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best-return value?" Answer: the sweep selects by a RULE, not by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--- the largest penalty that still keeps the agent trading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(wealth &gt;= +$79.14, exposure &gt;= 0.299). Picking by return would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chosen 0.05 and barely changed behaviour.</a:t>
            </a:r>
          </a:p>
        </p:txBody>
      </p:sp>
      <p:sp>
        <p:nvSpPr>
          <p:cNvPr id="22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E73BE3-DEAD-4EC7-8076-642ADF2997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the latest rehearsal (Slide 6 v2), tightened —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number slip fixed, see CAREFUL: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"For the first study we can see that no agent actually beat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benchmark. This was trained on 60 real months and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tested on the 2024-to-2025 period. So technically, if you bought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asset at the beginning of January 2024 and held it to the end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2025, you would have earned an average of $180.25 per month.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closest learner to this was REINFORCE at $171.51, then PPO 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$127.35, and Deep Q-learning at the bottom with $74.68.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first glance you might say: okay, that looks efficient. But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looking closer at the seed distribution --- the right-hand chart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 we see that REINFORCE and PPO, the policy methods, actually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stuck to fixed patterns: always buying, or never trading at all.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what's to blame is the testing period itself: 2024 to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2025 was a strong upward market, so the most favourable strategy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was simply to always buy. But there was also a deeper underlying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cause --- the models overfitting --- which we will get to on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slide.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here is the contradiction: the only method whose decisions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DID change with its state, Deep Q-learning, earned the least.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contradiction needed an explanation."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slip from rehearsal: the closest learner was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at $171.51 (you said PPO). PPO was $127.35.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right-hand chart shows the per-seed detail: filled dots are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state-dependent seeds, hollow are mask-only --- point at it when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say "looking closer at the seed distribution".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HOW the state-dependence test works, answer here: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"I compared moments where the agent had the SAME set of legal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actions and asked whether it picked DIFFERENT actions. If it did,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difference can only have come from the state it saw. If it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always picks the same action, it is a fixed rule, not a policy."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slide answers WHY this happened — the diagnosis.</a:t>
            </a:r>
          </a:p>
        </p:txBody>
      </p:sp>
      <p:sp>
        <p:nvSpPr>
          <p:cNvPr id="23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656AEA-17D9-4FE9-A250-F887DC63E4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(Slide 7 p1+p2), tightened —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slips fixed, see CAREFUL at the bottom: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"For the first study we used a multi-layer perceptron with two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 layers of 128 units, creating around 18,000 trainable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parameters --- with only 60 data points, keep in mind. With far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trainable weights than training months, the network can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memorise all 60 months perfectly. Nothing forces it to learn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rule for a different market condition. It's like a student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preparing for an exam with the demo questions, then getting to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exam and seeing completely different questions.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added to this is that most of the training months --- 29 of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60 --- were rising markets, and only 16 were falling markets,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like the COVID crash in 2020. This uneven batch of market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conditions teaches the agent to always buy, because that returns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highest reward for the policy methods. Coupled with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memorisation from insufficient data, the policies did not need to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rely on the information provided by their state --- even though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state contains multiple features that describe the market and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portfolio conditions. That is why REINFORCE and PPO essentially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won by chance during the testing period, which was also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high-rising market.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Q-learning, on the other hand, was lowest because estimating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worth of an action needs many similar situations to learn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from. Sixty months that never repeat, with no balanced market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conditions, make its value estimates very noisy."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slips from rehearsal: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128 units per hidden layer, not 120.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60 training months (you said "16 data points" once).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16 of 60 fell, not 19.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"why not just make the model smaller?" — I did also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shrink it (2,800 parameters, next slide). Both moves were needed.</a:t>
            </a:r>
          </a:p>
        </p:txBody>
      </p:sp>
      <p:sp>
        <p:nvSpPr>
          <p:cNvPr id="23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2A49B5-CFEA-4FD5-B6A9-25DB438A9B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(Slide 8), tightened — one recurring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slip fixed, see CAREFUL: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"After understanding the limitations of the first study, I built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 market simulator that generates monthly prices for the main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study. It is calibrated on the same training period, 2018 to 2022.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good thing about a simulator is that we can recreate different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 conditions on demand. So we created 3,000 balanced training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episodes --- 1,000 per condition: an upward market, a downward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market, and a consolidation market where prices move side to side.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that we had substantial volume in the data, the other fix was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network itself. We reduced the MLP's hidden layers to 64 and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 units --- about 2,800 parameters in total --- which sits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comfortably against 3,000 training episodes, roughly twenty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 per... [pause] --- the data now outnumbers the parameters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20 to 1. The exact opposite of the first study's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60-versus-18,000.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the simulator gives us not just volume but LABELLED market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conditions: every episode is tagged rising, falling or flat, so we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evaluate how the agent behaves in each condition separately.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real data those conditions come mixed together.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property by construction: on the balanced test set, no fixed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pattern profits. Buy-and-hold loses $60.29 per episode; never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trading earns $0. Any positive number must come from reading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critical rule: the simulator only reads 2018 to 2022. Every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real month --- 2006 to 2017, and 2023 to 2025 --- stays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completely untouched. Those months become the transfer test on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10. With these changes came massive changes in the results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in the behaviours the agents established."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recurring slip: the calibration window is 2018 to 2022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(you said "2018 to 2012" this time, "2020 to 2022" before).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say "LABELLED market conditions", not "labour".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question: "Isn't this just fitting a simple GBM?" —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Yes, deliberately. The whole point is a controlled experiment.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realistic generators are future work; the transfer test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measures how much the simplification costs.</a:t>
            </a:r>
          </a:p>
        </p:txBody>
      </p:sp>
      <p:sp>
        <p:nvSpPr>
          <p:cNvPr id="23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2462BD-21BD-4762-940A-622F8A434F9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(this is the main result --- slow down):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"This is the main study's exam: 600 SIMULATED test episodes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agents never saw in training --- the simulator made 3,000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episodes, 300 validation, and these 600 for testing,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balanced across rising, falling and flat markets.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left chart picks up the three conditions from the last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and shows what each method earned in each one. In rising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markets, Deep Q earns $473.72 of the $477.22 that always-buying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earns --- it keeps 99% of the upside. In falling markets, it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loses $103.35 where always-buying loses $663.91 --- an 84%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smaller loss, because it steps aside instead of holding on. In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flat markets it roughly matches the market. Stay in while it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rises, get out while it falls: that is the state-dependent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behaviour the first study looked for and could not find.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right chart puts all 600 episodes together. Balance removes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market's free ride --- think of testing a gambler with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fair coin instead of a coin weighted towards heads: 'always bet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heads' stops looking clever. So blind holding loses about $60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episode, because it pays fees and takes every falling market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full. Doing nothing earns exactly $0 --- the zero line.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positive number is only possible if the agent's decisions change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the market. And the ranking completely inverts: Deep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Q-learning --- the worst method on real data --- is the only one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above the line. 127 dollars per episode, profitable on all six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seeds, decisions changing with the state on all six.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why do REINFORCE and PPO end up in these fixed corners?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balanced data, always-buying loses money, so never trading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becomes the locally safe answer: it earns nothing, but it cannot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lose. Once a policy-gradient method drifts close to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deterministic answer, its gradient carries almost no signal, so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stops exploring and gets stuck there. Deep Q-learning does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have that failure mode --- its epsilon-greedy exploration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keeps trying every action a fraction of the time, no matter what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current policy prefers.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story becomes: the data set the limit, not the algorithm."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 detail if asked: REINFORCE --- 3 seeds never traded ($0.00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exactly), 2 always bought (-$58.70, matching the always-buy row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the cent), 1 learned the conditioned policy (+$83.13, keeping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$417.02 of the up-market profit, down-loss $162.11). PPO --- 5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seeds never traded, 1 fixed buying pattern, 0 state-dependent.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 (asked by Fiyin himself, so examiners may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it too): "Are you saying buy-and-hold would lose money by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2025?" --- NO. Answer: "This is a controlled simulated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exam, not a market forecast. On the real 2024-25 data,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earned $180.25 a month --- slide 6. The balanced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deliberately removes the upward drift to check whether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strategy has any skill beyond riding a rising market.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has none --- that is not a flaw of the market, it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definition of buy-and-hold."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QUESTION: "Is this the transfer test?" --- NO.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"This is the simulated test set --- 600 held-out episodes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the simulator, unseen in training. The transfer test is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slide: the same policies run unchanged on 180 REAL months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simulator never touched." Order of exams: training (3,000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sim) -&gt; validation (300 sim) -&gt; simulated test (600, THIS slide)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-&gt; real transfer test (180 real months, slide 10).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Exact per-condition numbers (Table 5.3, $ per episode) if asked: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  +473.72 up / -103.35 down / +10.45 flat;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 +228.58 / -248.32 / +2.60;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PPO  +67.69 / -99.04 / -2.14;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Always-buy  +477.22 / -663.91 / +10.58;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 +510.17 / -710.06 / +19.00.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3 minutes. This is the slide the examiners will remember.</a:t>
            </a:r>
          </a:p>
        </p:txBody>
      </p:sp>
      <p:sp>
        <p:nvSpPr>
          <p:cNvPr id="24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8A506F-FEE6-4EB9-AF4E-0B531A86551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(about 80 seconds):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"Why do these experiments exist at all? Because the main agent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paid for profit alone. It has no reason to care how rough the ride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--- but a real investor does. So the question was: can the same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learn to protect itself from losses? We tested it in two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steps, changing one thing at a time.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 one: let it SEE its losses. We gave it one new input ---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drawdown, how far the portfolio has fallen from its best point this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month. If the agent merely lacked information, this alone should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how it trades. It didn't. The mean moved four dollars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against a seed spread of seven. It could see its losses; nothing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paid it to act on them.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 two: make losses hurt. We changed the pay rule --- reward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the month's profit minus lambda times that same drawdown. Now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behaviour changed exactly where it should. In falling markets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loses seventy-three percent less. In rising markets it keeps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87 percent of its gains. And the cost was almost nothing: mean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profit moved one and a half percent, and the Sharpe ratio ---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per unit of risk --- rose from 0.285 to 0.332.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lesson in one line: information only helps when the objective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gives the agent a reason to use it."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 (Nguyen asked about drawdown repeatedly):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"Why keep the feature and the reward separate?" Answer: to separate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two effects --- seeing losses versus being paid to avoid them.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them together would confound which one changed behaviour.</a:t>
            </a:r>
          </a:p>
        </p:txBody>
      </p:sp>
      <p:sp>
        <p:nvSpPr>
          <p:cNvPr id="24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EA1A34-396E-4CE8-85B8-04E94CAF49C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"The final test is the TRANSFER test: I took the policies trained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simulator and ran them, unchanged, on 180 real months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never saw. That's 2006 to 2017 plus 2023 to 2025 ---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OUTSIDE the 2018-2022 window that calibrated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simulator.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left chart is drawn from the actual experiment data ---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numbers behind the dissertation figure --- and now shows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the methods month by month. Notice buy-and-hold finishes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HIGHEST. I want to be honest about that: on raw return we do not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beat the market's average direction, because the market mostly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rose over these two decades. The right panel gives the means: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$80.24 a month, always-buy $76.48, our agent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$60.28, REINFORCE $31.66, PPO $8.32 --- the policy-gradient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methods are weaker because most of their seeds collapsed to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patterns.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why does the agent still win? Look at the shaded band: late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2008. Buy-and-hold lost $1,665 in October 2008 alone --- you can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its line plunge. All six of our agents held ZERO shares for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entire month, so their line barely dips. Not because they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were told about 2008 --- they had never seen a real market in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--- but because the volatility features they observed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matched their learned 'falling condition', so they stepped aside.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risk-adjusted return, the Sharpe ratio, our agent finishes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ahead of buy-and-hold: 0.224 against 0.198. It gives up some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upside and avoids most of the crashes."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why the deck's earlier draft chart differed from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dissertation figure: it was a stylised sketch; this one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plotted directly from sim_results.json (real_per_month), so it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matches the thesis exactly.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question: "Isn't the agent just classifying your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generator's regimes?" — Partly, yes. But those regularities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carried to 2008, which is not something the generator ever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produced. See viva Q&amp;A prep for the full answer.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014038-434A-482A-8AE2-2FE7FB2BAF1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Closing statement (about 90 seconds — walk the four boxes):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"To conclude. Three findings.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data set the limit, not the algorithm: 60 real months could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never teach an 18,000-weight network, and 3,000 balanced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simulated episodes could. Fixing the data flipped the winner ---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Q-learning went from last on real data to the only method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earns on the balanced test. And the caution it learned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survived reality: zero shares through October 2008, a crisis it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had never seen.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work contributes: a careful way to evaluate --- every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 on validation data, six matched seeds, 21 automated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tests; a behavioural test that tells a real policy apart from a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habit; and a calibrated simulator that turns market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 into something we can control.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it cannot claim: it is one asset; the simulator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deliberately simple --- the transfer test measures exactly what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simplicity costs; and it is six seeds without formal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significance testing.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work follows directly: richer simulators, rewards that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cannot be gamed by refusing to trade, and stronger evidence.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you take away one line: what these methods learn is decided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the data they are given.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you. I'm happy to take questions."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90 seconds max. Then stop talking.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3C51CB-5EE8-436C-BD8B-BE261B4B1EA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OFFER THIS ONLY AT THE VERY END — after the examiners confirm they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no more questions. Never mid-presentation.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Say: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"Before we finish — if you would like to see the transfer test run,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built a small demo. If you scan this code, or open the link I've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 put in the chat, you can watch the same 180 months play out on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phone: buy-and-hold falling through October 2008 while the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 agent's line stays flat."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PASTE THE LINK IN THE TEAMS CHAT: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https://thefinix13.github.io/viva-agent-demo/</a:t>
            </a: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whether this is part of the dissertation: "The numbers are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dissertation's Table 5.3 transfer result exactly — the page is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 an animated view of them. Anything beyond SPY would be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post-submission engineering, not an evaluated result."</a:t>
            </a:r>
          </a:p>
        </p:txBody>
      </p:sp>
      <p:sp>
        <p:nvSpPr>
          <p:cNvPr id="25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328AE2-BB8C-4974-B2B4-63E0561BEFC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6E3E88-363B-43F0-ACD6-27AF51A798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432900-16EE-4B26-9801-47A871CFA9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7FA5DF-3579-4A62-A70B-1F0F504ED1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E3C8ED-1327-41FD-B33C-386A4004FA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BCCEB3-2BFA-4B72-B241-C40CB1FBF9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FE1CBF-166C-4C2B-8C60-BBBF4AE999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B7E154-53F0-4E87-8783-D90D2705B4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E3CE54-92B2-428E-93FE-79339F4AC6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E7E012-2A7A-4EB1-AA4F-B7DFC11D18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0A0B08-36D2-42B1-856C-3A66B9CD13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6A73CE-12D5-450D-9199-836A95CFD6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1371600" y="777240"/>
            <a:ext cx="9448200" cy="1599840"/>
          </a:xfrm>
          <a:prstGeom prst="rect">
            <a:avLst/>
          </a:prstGeom>
          <a:solidFill>
            <a:srgbClr val="ECECE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3000" b="1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Evaluating Reinforcement Learning Algorithms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for Portfolio Trading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799"/>
              </a:spcBef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A Reinforcement Learning Study on the S&amp;P 500 ETF (SPY)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371600" y="2880360"/>
            <a:ext cx="94482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Fiyinfoluwa Akano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URN 6962514  ·  MSc Artificial Intelligence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Supervisor: Dr Cuong Nguyen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201"/>
              </a:spcBef>
            </a:pPr>
            <a:r>
              <a:rPr lang="en-US" sz="15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University of Surrey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400"/>
              </a:spcBef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September 2026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3" descr="surrey_logo.png"/>
          <p:cNvPicPr/>
          <p:nvPr/>
        </p:nvPicPr>
        <p:blipFill>
          <a:blip r:embed="rId3"/>
          <a:stretch/>
        </p:blipFill>
        <p:spPr>
          <a:xfrm>
            <a:off x="4975560" y="5623560"/>
            <a:ext cx="2240640" cy="822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Problem (Main Research Question)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An investor holding a stock can decide each day whether to: buy, do nothing, or sell.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3" descr="slide2_decision.png"/>
          <p:cNvPicPr/>
          <p:nvPr/>
        </p:nvPicPr>
        <p:blipFill>
          <a:blip r:embed="rId3"/>
          <a:stretch/>
        </p:blipFill>
        <p:spPr>
          <a:xfrm>
            <a:off x="2122920" y="1417320"/>
            <a:ext cx="7945200" cy="374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ounded Rectangle 4"/>
          <p:cNvSpPr/>
          <p:nvPr/>
        </p:nvSpPr>
        <p:spPr>
          <a:xfrm>
            <a:off x="822960" y="5440680"/>
            <a:ext cx="10515240" cy="868320"/>
          </a:xfrm>
          <a:prstGeom prst="roundRect">
            <a:avLst>
              <a:gd name="adj" fmla="val 16667"/>
            </a:avLst>
          </a:prstGeom>
          <a:solidFill>
            <a:srgbClr val="FBF0E1"/>
          </a:solidFill>
          <a:ln w="19050">
            <a:solidFill>
              <a:srgbClr val="E07A1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45000" rIns="2286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Main Research Question — </a:t>
            </a:r>
            <a:r>
              <a:rPr lang="en-US" sz="15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Can reinforcement learning make these decisions better than simply buying and holding an asset long term?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2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Trading Environment (MDP Formulation)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how reinforcement learning works — state, action, reward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3" descr="slide3_env_loop.png"/>
          <p:cNvPicPr/>
          <p:nvPr/>
        </p:nvPicPr>
        <p:blipFill>
          <a:blip r:embed="rId3"/>
          <a:stretch/>
        </p:blipFill>
        <p:spPr>
          <a:xfrm>
            <a:off x="2342880" y="1417320"/>
            <a:ext cx="7505640" cy="35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4"/>
          <p:cNvSpPr/>
          <p:nvPr/>
        </p:nvSpPr>
        <p:spPr>
          <a:xfrm>
            <a:off x="822960" y="507492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State.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What the agent sees right now — market information, portfolio details, and time within the episode.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Action.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What the agent does with it — Buy, Hold, or Sell.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Reward.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consequence — the change in portfolio wealth after fees. The agent is never told the 'correct' action, only this outcome.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Episode.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One month of trading (18–23 days). The loop above runs once per trading day.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3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What the agent sees — the state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nine numbers in the main studies; a tenth — drawdown — added for the risk experiments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411480" y="1325880"/>
          <a:ext cx="7314840" cy="2360160"/>
        </p:xfrm>
        <a:graphic>
          <a:graphicData uri="http://schemas.openxmlformats.org/drawingml/2006/table">
            <a:tbl>
              <a:tblPr/>
              <a:tblGrid>
                <a:gridCol w="38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7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#</a:t>
                      </a:r>
                      <a:endParaRPr lang="en-GB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Feature</a:t>
                      </a:r>
                      <a:endParaRPr lang="en-GB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Formula</a:t>
                      </a:r>
                      <a:endParaRPr lang="en-GB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What it tells the agent</a:t>
                      </a:r>
                      <a:endParaRPr lang="en-GB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Daily return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(Pₜ − Pₜ₋₁) / Pₜ₋₁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the most recent price move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Momentum (5-day)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(Pₜ − Pₜ₋₅) / Pₜ₋₅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 that move part of a short trend?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Volatility (5-day)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σ(last 5 daily returns)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how much prices vary lately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Gap to 20-day average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Pₜ / MA₂₀ − 1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how far price sits from its average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True range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ATR₁₄ / Pₜ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the size of recent daily swings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Cash fraction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Cₜ / C₀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how much cash is left to buy with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Position value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hₜ Pₜ / C₀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how big the open position is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Open profit/loss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(Pₜ − entry price) / entry price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 the position in profit or loss?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Time left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 / T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how far through the month we are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Drawdown  ddₜ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(Wᵖᵉᵃᵏ − Wₜ) / Wᵖᵉᵃᵏ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risk only: the worst dip so far</a:t>
                      </a:r>
                      <a:endParaRPr lang="en-GB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3" name="Rounded Rectangle 4"/>
          <p:cNvSpPr/>
          <p:nvPr/>
        </p:nvSpPr>
        <p:spPr>
          <a:xfrm>
            <a:off x="7955280" y="1325880"/>
            <a:ext cx="3840120" cy="461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07A1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8183880" y="145404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E07A1F"/>
                </a:solidFill>
                <a:effectLst/>
                <a:uFillTx/>
                <a:latin typeface="Calibri"/>
              </a:rPr>
              <a:t>How it was chosen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8211240" y="1874520"/>
            <a:ext cx="33282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Nothing redundant.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A feature made the list only if its information cannot be recovered from the others — no pile of indicators.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Nothing from the future.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Every feature is computed from information available at decision time. The agent never peeks ahead.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Drawdown kept separate on purpose.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Features 1–9 are the base state. Drawdown joins as a tenth only in the risk experiments — so we can test whether seeing loss history actually changes behaviour.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This is everything the agent knows when it decides: five numbers about the market, four about its own money — and nothing from the future. (P = price, C = cash, h = shares held, W = wealth, t = day in month.)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Action masking — only possible actions allowed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the environment tells the agent, each day, which of its three actions it can actually execute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ounded Rectangle 3"/>
          <p:cNvSpPr/>
          <p:nvPr/>
        </p:nvSpPr>
        <p:spPr>
          <a:xfrm>
            <a:off x="411480" y="1234440"/>
            <a:ext cx="5531760" cy="470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F335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40080" y="1362600"/>
            <a:ext cx="5074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What it is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667440" y="1783080"/>
            <a:ext cx="50198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The problem it solves.</a:t>
            </a:r>
            <a:r>
              <a:rPr lang="en-US" sz="1150" b="0" u="none" strike="noStrike" dirty="0">
                <a:solidFill>
                  <a:srgbClr val="1E1E1E"/>
                </a:solidFill>
                <a:effectLst/>
                <a:uFillTx/>
                <a:latin typeface="Calibri"/>
              </a:rPr>
              <a:t> An agent cannot buy when it has no cash left, and it cannot sell shares it does not hold. Something has to stop it from picking impossible actions.</a:t>
            </a:r>
            <a:endParaRPr lang="en-GB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The mask is three switches.</a:t>
            </a:r>
            <a:r>
              <a:rPr lang="en-US" sz="1150" b="0" u="none" strike="noStrike" dirty="0">
                <a:solidFill>
                  <a:srgbClr val="1E1E1E"/>
                </a:solidFill>
                <a:effectLst/>
                <a:uFillTx/>
                <a:latin typeface="Calibri"/>
              </a:rPr>
              <a:t> Each day the environment hands the agent Mₜ = [hold, buy, sell], each switch 1 (available) or 0 (not). Available cash sets the buy switch, current holdings set the sell switch, and hold is always on.</a:t>
            </a:r>
            <a:endParaRPr lang="en-GB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What it is NOT.</a:t>
            </a:r>
            <a:r>
              <a:rPr lang="en-US" sz="1150" b="0" u="none" strike="noStrike" dirty="0">
                <a:solidFill>
                  <a:srgbClr val="1E1E1E"/>
                </a:solidFill>
                <a:effectLst/>
                <a:uFillTx/>
                <a:latin typeface="Calibri"/>
              </a:rPr>
              <a:t> It carries no market information — it is built from the portfolio the agent already knows about. It is a constraint on the agent, not a hint.</a:t>
            </a:r>
            <a:endParaRPr lang="en-GB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6"/>
          <p:cNvSpPr/>
          <p:nvPr/>
        </p:nvSpPr>
        <p:spPr>
          <a:xfrm>
            <a:off x="6263640" y="1234440"/>
            <a:ext cx="5531760" cy="470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07A1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6492240" y="1362600"/>
            <a:ext cx="5074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E07A1F"/>
                </a:solidFill>
                <a:effectLst/>
                <a:uFillTx/>
                <a:latin typeface="Calibri"/>
              </a:rPr>
              <a:t>How each algorithm uses it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6519600" y="1783080"/>
            <a:ext cx="50198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REINFORCE and PPO.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Unavailable actions are removed before the softmax, so their probabilities are exactly zero — the agent cannot even sample them. PPO uses MaskablePPO from sb3-contrib.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Deep Q-learning — masked twice.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When acting, it picks the best LEGAL action. And inside the learning target, the maximum runs over legal actions only, so no value is ever assigned to an impossible move.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Verified, not assumed.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21-test suite includes mask-timing tests: if an illegal action ever slips through, the build fails.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Why it matters: every decision in every result was genuinely available at the moment it was made.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5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RL Algorithms (Value-Based Methods vs Policy-Based Methods)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the three algorithms compared in the study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3" descr="slide4_algorithms.png"/>
          <p:cNvPicPr/>
          <p:nvPr/>
        </p:nvPicPr>
        <p:blipFill>
          <a:blip r:embed="rId3"/>
          <a:stretch/>
        </p:blipFill>
        <p:spPr>
          <a:xfrm>
            <a:off x="1208520" y="1417320"/>
            <a:ext cx="977472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REINFORCE and DQN are implemented from scratch. PPO uses the standard library — a modern reference point.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6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How each algorithm learns — the update rules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the intuition in one line, then the objective each method optimises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914400" y="1371600"/>
            <a:ext cx="10332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Deep Q-learning learns a score for each action, then picks the best.</a:t>
            </a:r>
            <a:r>
              <a:rPr lang="en-US" sz="13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Q(s, a) is its estimate of how much money action a leads to from state s. Training shrinks the gap between that estimate and a better-informed one, yₜ: the reward actually received plus the best legal score in tomorrow's state. The frozen copy Q⁻ holds the target still while it learns.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4" descr="eq_dqn.png"/>
          <p:cNvPicPr/>
          <p:nvPr/>
        </p:nvPicPr>
        <p:blipFill>
          <a:blip r:embed="rId3"/>
          <a:stretch/>
        </p:blipFill>
        <p:spPr>
          <a:xfrm>
            <a:off x="2829960" y="2157840"/>
            <a:ext cx="6531120" cy="42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Box 5"/>
          <p:cNvSpPr/>
          <p:nvPr/>
        </p:nvSpPr>
        <p:spPr>
          <a:xfrm>
            <a:off x="914400" y="3017520"/>
            <a:ext cx="10332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REINFORCE repeats whatever paid off.</a:t>
            </a:r>
            <a:r>
              <a:rPr lang="en-US" sz="13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After a month of trading it looks back at each action and asks one question: how much money followed it? That amount is Gₜ. Actions followed by more money than usual become more likely next time; actions followed by less become less likely. That is the whole rule.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6" descr="eq_reinforce.png"/>
          <p:cNvPicPr/>
          <p:nvPr/>
        </p:nvPicPr>
        <p:blipFill>
          <a:blip r:embed="rId4"/>
          <a:stretch/>
        </p:blipFill>
        <p:spPr>
          <a:xfrm>
            <a:off x="4449240" y="3803760"/>
            <a:ext cx="3293280" cy="5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7"/>
          <p:cNvSpPr/>
          <p:nvPr/>
        </p:nvSpPr>
        <p:spPr>
          <a:xfrm>
            <a:off x="914400" y="4709160"/>
            <a:ext cx="10332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PPO is REINFORCE with a safety limit on each step.</a:t>
            </a:r>
            <a:r>
              <a:rPr lang="en-US" sz="13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ρₜ measures how much more likely the new policy makes an action than the old one did. The clip caps that change at a small fraction ε — so one month of data can never drag the policy far from the one that collected it.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8" descr="eq_ppo.png"/>
          <p:cNvPicPr/>
          <p:nvPr/>
        </p:nvPicPr>
        <p:blipFill>
          <a:blip r:embed="rId5"/>
          <a:stretch/>
        </p:blipFill>
        <p:spPr>
          <a:xfrm>
            <a:off x="1927440" y="5495400"/>
            <a:ext cx="833652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9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How to say it: Deep Q learns how good each action is and picks the best; REINFORCE repeats what paid; PPO does the same with a cap on each change. The equations are the dissertation's, for reference.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7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Dataset Splits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To avoid look-ahead leakage — data was not shuffled and episodes were made independent of one another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3" descr="slide5_rules.png"/>
          <p:cNvPicPr/>
          <p:nvPr/>
        </p:nvPicPr>
        <p:blipFill>
          <a:blip r:embed="rId3"/>
          <a:stretch/>
        </p:blipFill>
        <p:spPr>
          <a:xfrm>
            <a:off x="917280" y="1417320"/>
            <a:ext cx="1035720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4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Two studies, two splits — the first is chronological; the second uses a simulator trained with the same training months and holds out every other real month for testing.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8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validation experiments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trade size · transaction fee · risk coefficient — decided once on validation, then frozen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3"/>
          <p:cNvSpPr/>
          <p:nvPr/>
        </p:nvSpPr>
        <p:spPr>
          <a:xfrm>
            <a:off x="411480" y="1234440"/>
            <a:ext cx="3748680" cy="470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F335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640080" y="13626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Trade size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667440" y="1783080"/>
            <a:ext cx="323676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Each Buy commits a fixed slice of the starting money.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We tested fractions from 5% up to 50% of capital on the validation data, and watched how large a position each one could actually build within a month.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quarter of the capital won.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It was the smallest slice that could reach 90% of buy-and-hold's position. Smaller slices simply cannot get there in 21 days; bigger ones give up fine control.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6"/>
          <p:cNvGraphicFramePr/>
          <p:nvPr/>
        </p:nvGraphicFramePr>
        <p:xfrm>
          <a:off x="667440" y="4251960"/>
          <a:ext cx="3235680" cy="1287360"/>
        </p:xfrm>
        <a:graphic>
          <a:graphicData uri="http://schemas.openxmlformats.org/drawingml/2006/table">
            <a:tbl>
              <a:tblPr/>
              <a:tblGrid>
                <a:gridCol w="80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Slice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Days to full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Max exposure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90%?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0.05·C₀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0.452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0.10·C₀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0.691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0.25·C₀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0.834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yes ✓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0.50·C₀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0.882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yes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Buy-&amp;-hold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0.906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4" name="Rounded Rectangle 7"/>
          <p:cNvSpPr/>
          <p:nvPr/>
        </p:nvSpPr>
        <p:spPr>
          <a:xfrm>
            <a:off x="4224600" y="1234440"/>
            <a:ext cx="3748680" cy="470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07A1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4453200" y="13626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E07A1F"/>
                </a:solidFill>
                <a:effectLst/>
                <a:uFillTx/>
                <a:latin typeface="Calibri"/>
              </a:rPr>
              <a:t>Transaction fee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9"/>
          <p:cNvSpPr/>
          <p:nvPr/>
        </p:nvSpPr>
        <p:spPr>
          <a:xfrm>
            <a:off x="4480560" y="1783080"/>
            <a:ext cx="323676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Every trade costs something.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We charge 0.05% of each trade — five basis points — the same for every agent and every benchmark, so nobody trades for free.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Then we stress-tested that choice.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Sweeping the fee up to ten times the assumption, Deep Q-learning kept trading and kept earning. Buy-and-hold turns negative from 10 basis points.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Table 10"/>
          <p:cNvGraphicFramePr/>
          <p:nvPr/>
        </p:nvGraphicFramePr>
        <p:xfrm>
          <a:off x="4480560" y="4251960"/>
          <a:ext cx="3235680" cy="1287360"/>
        </p:xfrm>
        <a:graphic>
          <a:graphicData uri="http://schemas.openxmlformats.org/drawingml/2006/table">
            <a:tbl>
              <a:tblPr/>
              <a:tblGrid>
                <a:gridCol w="80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Fee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Buy-&amp;-hold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Deep Q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DQ trades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 bps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+$15.67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+$172.25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5.5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 bps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+$5.66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+$159.63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4.9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 bps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−$4.34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+$152.30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4.8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 bps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−$34.29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+$142.24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4.1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 bps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−$83.99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+$95.27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3.7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8" name="Rounded Rectangle 11"/>
          <p:cNvSpPr/>
          <p:nvPr/>
        </p:nvSpPr>
        <p:spPr>
          <a:xfrm>
            <a:off x="8037720" y="1234440"/>
            <a:ext cx="3748680" cy="470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A9D3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2"/>
          <p:cNvSpPr/>
          <p:nvPr/>
        </p:nvSpPr>
        <p:spPr>
          <a:xfrm>
            <a:off x="8266320" y="13626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9D3D"/>
                </a:solidFill>
                <a:effectLst/>
                <a:uFillTx/>
                <a:latin typeface="Calibri"/>
              </a:rPr>
              <a:t>Risk coefficient λ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8293680" y="1783080"/>
            <a:ext cx="323676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λ sets how much losing along the way hurts.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risk-aware reward takes the month's profit and subtracts λ times the worst dip the portfolio suffered on the way.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We raised it until the agent stopped trading.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Past λ = 0.25 the penalty outweighs any possible gain and the agent barely acts. So we kept the largest value where it still trades properly: λ = 0.25.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Table 14"/>
          <p:cNvGraphicFramePr/>
          <p:nvPr/>
        </p:nvGraphicFramePr>
        <p:xfrm>
          <a:off x="8293680" y="4251960"/>
          <a:ext cx="3235680" cy="1287360"/>
        </p:xfrm>
        <a:graphic>
          <a:graphicData uri="http://schemas.openxmlformats.org/drawingml/2006/table">
            <a:tbl>
              <a:tblPr/>
              <a:tblGrid>
                <a:gridCol w="80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λ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Profit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Exposure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Passes rule?</a:t>
                      </a:r>
                      <a:endParaRPr lang="en-GB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+$158.29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0.598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0.05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+$166.58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0.575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yes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0.25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+$99.13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0.338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yes ✓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0.50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+$15.65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0.039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56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2.00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−$0.04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0.000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endParaRPr lang="en-GB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7800" marR="37800" marT="12600" marB="12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2" name="TextBox 15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The rule of the study: every knob is decided on validation data, then frozen. The test sets are opened once, at the end.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9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First Study - No agent beat the buy-and-hold benchmark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trained on 60 real months, tested on 2024–2025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3" descr="slide6_first_result.png"/>
          <p:cNvPicPr/>
          <p:nvPr/>
        </p:nvPicPr>
        <p:blipFill>
          <a:blip r:embed="rId3"/>
          <a:stretch/>
        </p:blipFill>
        <p:spPr>
          <a:xfrm>
            <a:off x="320040" y="1417320"/>
            <a:ext cx="6034680" cy="352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4" descr="image4.png"/>
          <p:cNvPicPr/>
          <p:nvPr/>
        </p:nvPicPr>
        <p:blipFill>
          <a:blip r:embed="rId4"/>
          <a:stretch/>
        </p:blipFill>
        <p:spPr>
          <a:xfrm>
            <a:off x="6492240" y="1600200"/>
            <a:ext cx="5394600" cy="319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Box 5"/>
          <p:cNvSpPr/>
          <p:nvPr/>
        </p:nvSpPr>
        <p:spPr>
          <a:xfrm>
            <a:off x="502920" y="5760720"/>
            <a:ext cx="11155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No agent beat the buy-and-hold benchmark. The methods that earned the most did not act on the information provided by their state on any seed; the only method whose decisions changed with its state earned the least. The contradiction needed an explanation.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10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diagnosis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Data: is the historical record of one asset large enough to train these networks at all?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Picture 3" descr="slide7_diagnosis_first.png"/>
          <p:cNvPicPr/>
          <p:nvPr/>
        </p:nvPicPr>
        <p:blipFill>
          <a:blip r:embed="rId3"/>
          <a:stretch/>
        </p:blipFill>
        <p:spPr>
          <a:xfrm>
            <a:off x="457200" y="1463040"/>
            <a:ext cx="5211720" cy="400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4"/>
          <p:cNvSpPr/>
          <p:nvPr/>
        </p:nvSpPr>
        <p:spPr>
          <a:xfrm>
            <a:off x="5989320" y="1600200"/>
            <a:ext cx="566892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network is a multi-layer perceptron (MLP).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Two hidden layers of 128 units — 9 inputs → 128 → 128 → 3 actions — is roughly 18,000 trainable weights.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60 examples are far too few for 18,000 weights.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network can memorise all 60 training months perfectly, preventing it from learning anything new — like a student who memorises the demo questions and then meets a completely different exam.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training months lean upward.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29 of the 60 rose by more than 2%; only 16 fell (the COVID crash among them). In that market, 'always buy' is almost the best possible answer — and it needs no market information.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Why Deep Q-learning earned least.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Estimating what an action is worth needs many visits to similar situations; sixty ever-shifting months never repeat, so its value estimates stayed noisy.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None of this can be tested on the real data — the real data is the problem.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Testing it needs control over volume, balance and market conditions. That is what the main study builds → next slide.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11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Main Study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 simulator calibrated on the training months; and a smaller MLP network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3" descr="slide9_simulator.png"/>
          <p:cNvPicPr/>
          <p:nvPr/>
        </p:nvPicPr>
        <p:blipFill>
          <a:blip r:embed="rId3"/>
          <a:stretch/>
        </p:blipFill>
        <p:spPr>
          <a:xfrm>
            <a:off x="457200" y="1554480"/>
            <a:ext cx="6949080" cy="313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4" descr="slide8_diagnosis_main.png"/>
          <p:cNvPicPr/>
          <p:nvPr/>
        </p:nvPicPr>
        <p:blipFill>
          <a:blip r:embed="rId4"/>
          <a:stretch/>
        </p:blipFill>
        <p:spPr>
          <a:xfrm>
            <a:off x="7724520" y="1508760"/>
            <a:ext cx="3844080" cy="32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Box 5"/>
          <p:cNvSpPr/>
          <p:nvPr/>
        </p:nvSpPr>
        <p:spPr>
          <a:xfrm>
            <a:off x="822960" y="4892040"/>
            <a:ext cx="107895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Market generator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- with three known conditions: Rising, Falling, and Consolidating months, calibrated on the 60 real training months only — every other real month stays untouched for testing.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More Volume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- 3,000 balanced training episodes (1,000 per condition), 300 validation, 600 test — about 60,000 transitions per pass.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MLP Network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- Cut to 64 and 32 hidden units ≈ 2,800 parameters, so the training data now outnumbers the parameters: 60,000 transitions ÷ 2,800 weights ≈ 20 examples per weight.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On the balanced test, no fixed pattern is profitable.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Buy-and-hold loses $60.29 per episode. Any profit must come from reading the state.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12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Analysis — controlled data, properly sized model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Deep Q-learning improves overall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3" name="Picture 3" descr="slide10_conditions.png"/>
          <p:cNvPicPr/>
          <p:nvPr/>
        </p:nvPicPr>
        <p:blipFill>
          <a:blip r:embed="rId3"/>
          <a:stretch/>
        </p:blipFill>
        <p:spPr>
          <a:xfrm>
            <a:off x="457200" y="1371600"/>
            <a:ext cx="5577480" cy="394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Picture 4" descr="slide10_overall.png"/>
          <p:cNvPicPr/>
          <p:nvPr/>
        </p:nvPicPr>
        <p:blipFill>
          <a:blip r:embed="rId4"/>
          <a:stretch/>
        </p:blipFill>
        <p:spPr>
          <a:xfrm>
            <a:off x="6368760" y="1371600"/>
            <a:ext cx="527616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Box 5"/>
          <p:cNvSpPr/>
          <p:nvPr/>
        </p:nvSpPr>
        <p:spPr>
          <a:xfrm>
            <a:off x="502920" y="5532120"/>
            <a:ext cx="55774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In the simulated held-out test set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Left — DQN performed well in all market conditions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	— keeping $473.72 of the $477.22 always-buy earns in rising markets (99%), 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	— and losing $103.35 where always-buy loses $663.91 in falling ones (84% less).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6172200" y="5532120"/>
            <a:ext cx="5760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Right — only Deep Q-learning earns.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+$126.94 per episode on all six seeds. This is simulated data, not real-market prediction: with no constant rising markets, fixed patterns lose to transaction fees and falling markets.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REINFORCE and PPO collapse to fixed patterns again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— never trade, or always buy. One REINFORCE seed in six established a policy that relies on information from the state (+$83.13), but the method does not find it reliably.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13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risk experiments — a new input, then a new objective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adding drawdown to the state · switching to the risk-aware reward (λ = 0.25)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502920" y="129852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Why these experiments exist.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main agent is paid for profit alone, so it has no reason to care how rough the ride is — a real investor does. The question: can the same agent learn to protect itself from losses? We tested it in two steps, changing one thing at a time.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4"/>
          <p:cNvSpPr/>
          <p:nvPr/>
        </p:nvSpPr>
        <p:spPr>
          <a:xfrm>
            <a:off x="411480" y="2240280"/>
            <a:ext cx="553176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F335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640080" y="2368440"/>
            <a:ext cx="5074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Step 1 — let it SEE its losses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667440" y="2834640"/>
            <a:ext cx="50198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1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What we changed.</a:t>
            </a:r>
            <a:r>
              <a:rPr lang="en-US" sz="11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One new input: drawdown — how far the portfolio has fallen from its best point this month. If the agent merely lacked information, this alone should change how it trades.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1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What happened: almost nothing.</a:t>
            </a:r>
            <a:r>
              <a:rPr lang="en-US" sz="11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Mean profit +$126.94 → +$131.31 per episode — a $4 move against a seed spread near $7. The agent could now see its losses, but nothing paid it to act on them.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7"/>
          <p:cNvSpPr/>
          <p:nvPr/>
        </p:nvSpPr>
        <p:spPr>
          <a:xfrm>
            <a:off x="6263640" y="2240280"/>
            <a:ext cx="553176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A9D3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6492240" y="2368440"/>
            <a:ext cx="5074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9D3D"/>
                </a:solidFill>
                <a:effectLst/>
                <a:uFillTx/>
                <a:latin typeface="Calibri"/>
              </a:rPr>
              <a:t>Step 2 — make losses HURT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6519600" y="2834640"/>
            <a:ext cx="50198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1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What we changed.</a:t>
            </a:r>
            <a:r>
              <a:rPr lang="en-US" sz="11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pay rule. Reward = month's profit − λ × that same drawdown, with λ = 0.25 picked on validation. Losing along the way now costs the agent directly.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1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What happened: caution, exactly where needed.</a:t>
            </a:r>
            <a:r>
              <a:rPr lang="en-US" sz="11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In falling markets it loses 73% less (−$87.28 → −$23.26). In rising markets it keeps 87% of its gains (+$411.01 vs +$470.01).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1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At almost no cost.</a:t>
            </a:r>
            <a:r>
              <a:rPr lang="en-US" sz="11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Mean profit moves 1.5%; the Sharpe ratio — return earned per unit of risk taken — rises from 0.285 to 0.332.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The lesson: information only helps when the objective gives the agent a reason to use it.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14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transfer test — 180 real months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policies trained on the simulator, running unchanged on real data — including the 2008 crash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1" name="Picture 3" descr="slide11_lines.png"/>
          <p:cNvPicPr/>
          <p:nvPr/>
        </p:nvPicPr>
        <p:blipFill>
          <a:blip r:embed="rId3"/>
          <a:stretch/>
        </p:blipFill>
        <p:spPr>
          <a:xfrm>
            <a:off x="365760" y="1417320"/>
            <a:ext cx="7223400" cy="415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4" descr="slide11_bars.png"/>
          <p:cNvPicPr/>
          <p:nvPr/>
        </p:nvPicPr>
        <p:blipFill>
          <a:blip r:embed="rId4"/>
          <a:stretch/>
        </p:blipFill>
        <p:spPr>
          <a:xfrm>
            <a:off x="7498080" y="1417320"/>
            <a:ext cx="4297320" cy="417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Box 5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Sharpe ratio (risk-adjusted return): 0.224 for our agent vs 0.198 for buy-and-hold, over 180 real months.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15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Conclusions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findings · contributions · limitations · future work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3"/>
          <p:cNvSpPr/>
          <p:nvPr/>
        </p:nvSpPr>
        <p:spPr>
          <a:xfrm>
            <a:off x="411480" y="117036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F335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640080" y="129852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Findings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5"/>
          <p:cNvSpPr/>
          <p:nvPr/>
        </p:nvSpPr>
        <p:spPr>
          <a:xfrm>
            <a:off x="667440" y="170064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data caused the limitation, not the algorithm.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60 real months could never teach an 18,000-weighted network; but 3,000 balanced simulated episodes could.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Balanced data separated the algorithms.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Deep Q-learning learned a state-dependent policy on all six seeds; REINFORCE and PPO mostly collapsed to fixed habits — always buying, or never trading.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learned behaviour carried into real markets.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Run unchanged on 180 unseen months, every method stayed profitable — and Deep Q moved to zero shares through the October 2008 crash, a period no agent had ever seen.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6"/>
          <p:cNvSpPr/>
          <p:nvPr/>
        </p:nvSpPr>
        <p:spPr>
          <a:xfrm>
            <a:off x="411480" y="371232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07A1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640080" y="384048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E07A1F"/>
                </a:solidFill>
                <a:effectLst/>
                <a:uFillTx/>
                <a:latin typeface="Calibri"/>
              </a:rPr>
              <a:t>Contributions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667440" y="424296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careful way to evaluate.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Every decision was made on validation data, on six matched seeds, with automated tests guarding the accounting.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behavioural test.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It tells a policy that genuinely reads the market apart from a fixed habit — and changed how every result was read.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calibrated simulator.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It turns market condition into something we can control and test, grown from just 60 real months.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9"/>
          <p:cNvSpPr/>
          <p:nvPr/>
        </p:nvSpPr>
        <p:spPr>
          <a:xfrm>
            <a:off x="6217920" y="117036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039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6446520" y="129852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Limitations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1"/>
          <p:cNvSpPr/>
          <p:nvPr/>
        </p:nvSpPr>
        <p:spPr>
          <a:xfrm>
            <a:off x="6473880" y="170064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One asset.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We studied SPY only, so the findings do not automatically carry to other markets.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deliberately simple simulator.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No market changes inside a month; months are categorized by their rising/falling/consolidating conditions. The transfer test reflects the cost of this simplicity.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Modest evidence.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Six seeds, no formal significance tests, and the policy-gradient methods were not separately tuned.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2"/>
          <p:cNvSpPr/>
          <p:nvPr/>
        </p:nvSpPr>
        <p:spPr>
          <a:xfrm>
            <a:off x="6217920" y="371232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A9D3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3"/>
          <p:cNvSpPr/>
          <p:nvPr/>
        </p:nvSpPr>
        <p:spPr>
          <a:xfrm>
            <a:off x="6446520" y="384048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9D3D"/>
                </a:solidFill>
                <a:effectLst/>
                <a:uFillTx/>
                <a:latin typeface="Calibri"/>
              </a:rPr>
              <a:t>Future work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6473880" y="424296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Better simulators.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Market changes inside an episode, alongside continuous episodes, volatility clustering, and walk-forward recalibration.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Fairer rewards.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Objectives that cannot be gamed by refusing to trade.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Stronger evidence.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More seeds with confidence intervals, uncertainty-aware agents, and other assets.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5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What these methods learn is decided by the data they are given.  —  Thank you.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16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See it run — a live demo on your phone</a:t>
            </a:r>
            <a:endParaRPr lang="en-GB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 dirty="0">
                <a:solidFill>
                  <a:srgbClr val="666666"/>
                </a:solidFill>
                <a:effectLst/>
                <a:uFillTx/>
                <a:latin typeface="Calibri"/>
              </a:rPr>
              <a:t>the transfer test as an animation: the same 180 months, drawn month by month</a:t>
            </a:r>
            <a:endParaRPr lang="en-GB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ounded Rectangle 3"/>
          <p:cNvSpPr/>
          <p:nvPr/>
        </p:nvSpPr>
        <p:spPr>
          <a:xfrm>
            <a:off x="4027176" y="1313473"/>
            <a:ext cx="3931560" cy="461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F335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5318680" y="1663883"/>
            <a:ext cx="1348551" cy="2616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Scan to open</a:t>
            </a:r>
            <a:endParaRPr lang="en-GB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5" descr="qr_demo.png"/>
          <p:cNvPicPr/>
          <p:nvPr/>
        </p:nvPicPr>
        <p:blipFill>
          <a:blip r:embed="rId3"/>
          <a:stretch/>
        </p:blipFill>
        <p:spPr>
          <a:xfrm>
            <a:off x="4656319" y="1961091"/>
            <a:ext cx="283428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6"/>
          <p:cNvSpPr/>
          <p:nvPr/>
        </p:nvSpPr>
        <p:spPr>
          <a:xfrm>
            <a:off x="4697611" y="5030284"/>
            <a:ext cx="259068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thefinix13.github.io/viva-agent-demo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8"/>
          <p:cNvSpPr/>
          <p:nvPr/>
        </p:nvSpPr>
        <p:spPr>
          <a:xfrm>
            <a:off x="8344080" y="3622153"/>
            <a:ext cx="3428640" cy="23210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A9D3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9196489" y="3787278"/>
            <a:ext cx="1471470" cy="2616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2A9D3D"/>
                </a:solidFill>
                <a:effectLst/>
                <a:uFillTx/>
                <a:latin typeface="Calibri"/>
              </a:rPr>
              <a:t>What it shows</a:t>
            </a:r>
            <a:endParaRPr lang="en-GB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8595360" y="4140328"/>
            <a:ext cx="2916720" cy="16850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The transfer test, animated.</a:t>
            </a:r>
            <a:r>
              <a:rPr lang="en-US" sz="1050" b="0" u="none" strike="noStrike" dirty="0">
                <a:solidFill>
                  <a:srgbClr val="1E1E1E"/>
                </a:solidFill>
                <a:effectLst/>
                <a:uFillTx/>
                <a:latin typeface="Calibri"/>
              </a:rPr>
              <a:t> The cumulative-wealth lines draw themselves month by month across the 180 unseen months.</a:t>
            </a:r>
            <a:endParaRPr lang="en-GB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October 2008, as it happens.</a:t>
            </a:r>
            <a:r>
              <a:rPr lang="en-US" sz="1050" b="0" u="none" strike="noStrike" dirty="0">
                <a:solidFill>
                  <a:srgbClr val="1E1E1E"/>
                </a:solidFill>
                <a:effectLst/>
                <a:uFillTx/>
                <a:latin typeface="Calibri"/>
              </a:rPr>
              <a:t> Buy-and-hold plunges through the crash band; the Deep Q line stays flat — it holds zero shares.</a:t>
            </a:r>
            <a:endParaRPr lang="en-GB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 dirty="0">
                <a:solidFill>
                  <a:srgbClr val="1F335A"/>
                </a:solidFill>
                <a:effectLst/>
                <a:uFillTx/>
                <a:latin typeface="Calibri"/>
              </a:rPr>
              <a:t>The real numbers.</a:t>
            </a:r>
            <a:r>
              <a:rPr lang="en-US" sz="1050" b="0" u="none" strike="noStrike" dirty="0">
                <a:solidFill>
                  <a:srgbClr val="1E1E1E"/>
                </a:solidFill>
                <a:effectLst/>
                <a:uFillTx/>
                <a:latin typeface="Calibri"/>
              </a:rPr>
              <a:t> Every line ends on its Table 5.3 value — this is the evaluated result, not a mock-up.</a:t>
            </a:r>
            <a:endParaRPr lang="en-GB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3887421" y="6281243"/>
            <a:ext cx="4450490" cy="2608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666666"/>
                </a:solidFill>
                <a:effectLst/>
                <a:uFillTx/>
                <a:latin typeface="Calibri"/>
              </a:rPr>
              <a:t>An demo of the SPY evaluated results from the dissertation</a:t>
            </a:r>
            <a:endParaRPr lang="en-GB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17 / 17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</TotalTime>
  <Words>8195</Words>
  <Application>Microsoft Macintosh PowerPoint</Application>
  <PresentationFormat>Widescreen</PresentationFormat>
  <Paragraphs>833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Akano, Fiyinfoluwa B (PG/T - Comp Sci &amp; Elec Eng)</cp:lastModifiedBy>
  <cp:revision>3</cp:revision>
  <dcterms:created xsi:type="dcterms:W3CDTF">2013-01-27T09:14:16Z</dcterms:created>
  <dcterms:modified xsi:type="dcterms:W3CDTF">2026-09-14T13:59:32Z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